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9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A1CC6C-B060-7E45-AAB7-FECEEA7A4933}" v="3" dt="2026-02-26T19:06:14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7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am kothari" userId="S::shubham.kothari@beyondrisx.com::a35e6b6d-f85b-4fae-a1b4-9ec46eefe994" providerId="AD" clId="Web-{03A1CC6C-B060-7E45-AAB7-FECEEA7A4933}"/>
    <pc:docChg chg="modSld">
      <pc:chgData name="Shubham kothari" userId="S::shubham.kothari@beyondrisx.com::a35e6b6d-f85b-4fae-a1b4-9ec46eefe994" providerId="AD" clId="Web-{03A1CC6C-B060-7E45-AAB7-FECEEA7A4933}" dt="2026-02-26T19:06:14.432" v="2"/>
      <pc:docMkLst>
        <pc:docMk/>
      </pc:docMkLst>
      <pc:sldChg chg="addSp modSp">
        <pc:chgData name="Shubham kothari" userId="S::shubham.kothari@beyondrisx.com::a35e6b6d-f85b-4fae-a1b4-9ec46eefe994" providerId="AD" clId="Web-{03A1CC6C-B060-7E45-AAB7-FECEEA7A4933}" dt="2026-02-26T19:06:09.166" v="1" actId="1076"/>
        <pc:sldMkLst>
          <pc:docMk/>
          <pc:sldMk cId="0" sldId="259"/>
        </pc:sldMkLst>
        <pc:picChg chg="add mod">
          <ac:chgData name="Shubham kothari" userId="S::shubham.kothari@beyondrisx.com::a35e6b6d-f85b-4fae-a1b4-9ec46eefe994" providerId="AD" clId="Web-{03A1CC6C-B060-7E45-AAB7-FECEEA7A4933}" dt="2026-02-26T19:06:09.166" v="1" actId="1076"/>
          <ac:picMkLst>
            <pc:docMk/>
            <pc:sldMk cId="0" sldId="259"/>
            <ac:picMk id="20" creationId="{FDD7C48F-E0A1-B5AE-56BC-A1F4862B5E01}"/>
          </ac:picMkLst>
        </pc:picChg>
      </pc:sldChg>
      <pc:sldChg chg="addSp">
        <pc:chgData name="Shubham kothari" userId="S::shubham.kothari@beyondrisx.com::a35e6b6d-f85b-4fae-a1b4-9ec46eefe994" providerId="AD" clId="Web-{03A1CC6C-B060-7E45-AAB7-FECEEA7A4933}" dt="2026-02-26T19:06:14.432" v="2"/>
        <pc:sldMkLst>
          <pc:docMk/>
          <pc:sldMk cId="0" sldId="260"/>
        </pc:sldMkLst>
        <pc:picChg chg="add">
          <ac:chgData name="Shubham kothari" userId="S::shubham.kothari@beyondrisx.com::a35e6b6d-f85b-4fae-a1b4-9ec46eefe994" providerId="AD" clId="Web-{03A1CC6C-B060-7E45-AAB7-FECEEA7A4933}" dt="2026-02-26T19:06:14.432" v="2"/>
          <ac:picMkLst>
            <pc:docMk/>
            <pc:sldMk cId="0" sldId="260"/>
            <ac:picMk id="10" creationId="{AB470396-D6E3-E9F2-264A-E6BDC2551E2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855799-472D-4907-85E0-65687BF88B0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1767E-4625-4ECD-8491-7CD9BC48A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705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61A74-4C6B-B66E-3CE5-D7D8B5998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99C655-E8CE-77A7-E9E6-5ED23F4D23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B52A5-36A3-6F2E-1A5E-B82895E44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A02B-9A87-4F8E-8245-E16101E0869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0BE9D-929F-6123-1DFA-EBDC0495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4BA75-5DB5-F69E-B6E8-99C0A3BEE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4EE6-3F0C-44F6-97FB-8941917A22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258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7F5F4-3A2F-E17E-B21E-9CEB2FE6F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65BF3-420B-95AD-4ACC-C2A065B90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646CC-F113-2935-A788-3B290133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A02B-9A87-4F8E-8245-E16101E0869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5B748-88E5-5899-D628-B43D80856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CE4BC-C4CE-8CA3-4AD6-CB71561B7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4EE6-3F0C-44F6-97FB-8941917A22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181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BEF79-60A3-3868-93B7-D0130BD3B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F0847-AD07-9436-8661-CF23990AC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612A1-6880-1F8A-D2D5-20CB5331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A02B-9A87-4F8E-8245-E16101E0869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BE86E-64EF-B811-5EA4-8796E8AC3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2121F-7A10-1CDD-86AF-B0BDE0471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4EE6-3F0C-44F6-97FB-8941917A22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841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6692A-2322-46DE-4E10-BCB71C6CE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FD9B7-25AC-6766-9F8B-AC608DFDB7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50563-FFD6-0140-A132-89F07D6B3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02B9F0-456C-890A-0014-A63A0AA66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A02B-9A87-4F8E-8245-E16101E0869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C5D378-C906-6ECE-A7B1-F44552EF3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E7354-FF4A-C224-D3C9-15C40CD09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4EE6-3F0C-44F6-97FB-8941917A22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659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F8C54-2568-7B40-CE3C-629079ED2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8EF5B-516A-2BC3-5597-B47F0F544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EAC4E-0B0D-5FAE-586E-920B805B3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B1DC03-962D-B1FD-4FD7-F3AD468301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094BD2-613B-2CDA-C58C-C72421502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616AB0-5A0F-8EBB-177D-A7CED4691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A02B-9A87-4F8E-8245-E16101E0869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0F2B72-75AF-039E-07FD-F8B6F4542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1CC9E-4412-0AD4-387F-F8B3DCDB1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4EE6-3F0C-44F6-97FB-8941917A22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029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89F2-A8E6-0708-5EED-5CA009C7D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B933BE-D79B-DFE9-6625-1AFB5855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A02B-9A87-4F8E-8245-E16101E0869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C2A7A0-4A10-7941-4D22-38394650C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4C09D7-F089-9505-FBBC-9C7C66FF5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4EE6-3F0C-44F6-97FB-8941917A22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90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6CA21C-BEDB-8F50-C2C8-CCFE4C596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A02B-9A87-4F8E-8245-E16101E0869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1096A9-FF9C-0B03-F0D6-2E871DFDB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298AA-B20A-BBB5-FE2B-FEFCA7295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4EE6-3F0C-44F6-97FB-8941917A22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703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E1361-0175-E73A-15FC-4E48F2996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AF5F2-8024-7279-46AC-3455E5B28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3CFE41-3197-9216-A798-2907F6CAF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A1607-8002-478D-0CAD-429BD3F97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A02B-9A87-4F8E-8245-E16101E0869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49B9E-936A-9E1D-B8EF-753024CE4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D68BD-AD6E-96CB-0C57-4559CAC96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4EE6-3F0C-44F6-97FB-8941917A22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760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ECCF9-4A13-6C5C-8B4A-C2270F8F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021945-E648-3C2D-962F-AC1BA56D2E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73F29-25D4-49B0-5AA6-E86677E69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3BBB74-8F77-E2B1-7129-FA839F250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A02B-9A87-4F8E-8245-E16101E0869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BF196-6B7B-1937-16FF-72F485B36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1BA43-B9BD-54DE-3540-C00D29B3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4EE6-3F0C-44F6-97FB-8941917A22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643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4C848-E7FE-7DF5-842E-C76276B6F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B31B1-E789-9627-6E46-20B0DE949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E3A11-69E0-7710-F56D-A7FA18EB3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A02B-9A87-4F8E-8245-E16101E0869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3A84E-2E1D-28B6-DC1C-BCB23A7D7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4567B-1492-9F93-2592-13126098E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4EE6-3F0C-44F6-97FB-8941917A22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770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3BCFF9-CC92-F31F-32F8-E4C8992C94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080182-4F86-460E-4A9D-1285EA9C1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A96E3-797B-4870-BE48-EFD078BE5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A02B-9A87-4F8E-8245-E16101E0869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7B691-5FF6-1F7F-3DAE-1D526F341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BA363-8518-FF39-94A3-B267C412E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4EE6-3F0C-44F6-97FB-8941917A22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349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16831044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2001544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2A2586-E315-FDCD-084D-12402A6E8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7F201-5D34-BF2D-8E84-7A975F64A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01AFA-D398-78DC-FF1A-C233BED7FD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EA02B-9A87-4F8E-8245-E16101E0869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30F97-521E-3271-869E-FD5793F76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E7ACD-9E3D-CF4B-6323-4B86D506B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74EE6-3F0C-44F6-97FB-8941917A22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2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92" y="495697"/>
            <a:ext cx="1276152" cy="310952"/>
          </a:xfrm>
          <a:prstGeom prst="roundRect">
            <a:avLst>
              <a:gd name="adj" fmla="val 6383"/>
            </a:avLst>
          </a:prstGeom>
          <a:solidFill>
            <a:srgbClr val="D4F7EC"/>
          </a:solidFill>
          <a:ln/>
        </p:spPr>
      </p:sp>
      <p:sp>
        <p:nvSpPr>
          <p:cNvPr id="4" name="Text 1"/>
          <p:cNvSpPr/>
          <p:nvPr/>
        </p:nvSpPr>
        <p:spPr>
          <a:xfrm>
            <a:off x="760711" y="545307"/>
            <a:ext cx="1077714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67"/>
              </a:lnSpc>
            </a:pPr>
            <a:r>
              <a:rPr lang="en-US" sz="104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DID YOU KNOW?</a:t>
            </a:r>
            <a:endParaRPr lang="en-US" sz="1042" dirty="0"/>
          </a:p>
        </p:txBody>
      </p:sp>
      <p:sp>
        <p:nvSpPr>
          <p:cNvPr id="5" name="Text 2"/>
          <p:cNvSpPr/>
          <p:nvPr/>
        </p:nvSpPr>
        <p:spPr>
          <a:xfrm>
            <a:off x="661492" y="872729"/>
            <a:ext cx="6297018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CRO Role Barely Existed Before the 1990s</a:t>
            </a:r>
            <a:endParaRPr lang="en-US" sz="3250" dirty="0"/>
          </a:p>
        </p:txBody>
      </p:sp>
      <p:sp>
        <p:nvSpPr>
          <p:cNvPr id="6" name="Text 3"/>
          <p:cNvSpPr/>
          <p:nvPr/>
        </p:nvSpPr>
        <p:spPr>
          <a:xfrm>
            <a:off x="661492" y="2154238"/>
            <a:ext cx="629701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It may surprise you that the formal </a:t>
            </a:r>
            <a:r>
              <a:rPr lang="en-US" sz="1292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Chief Risk Officer role did not exist</a:t>
            </a: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in most banks before the 1990s. Risk management was often decentralised, handled within business units rather than at an institutional level.</a:t>
            </a:r>
            <a:endParaRPr lang="en-US" sz="1292" dirty="0"/>
          </a:p>
        </p:txBody>
      </p:sp>
      <p:sp>
        <p:nvSpPr>
          <p:cNvPr id="7" name="Shape 4"/>
          <p:cNvSpPr/>
          <p:nvPr/>
        </p:nvSpPr>
        <p:spPr>
          <a:xfrm>
            <a:off x="785515" y="3134122"/>
            <a:ext cx="19050" cy="3228082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8" name="Shape 5"/>
          <p:cNvSpPr/>
          <p:nvPr/>
        </p:nvSpPr>
        <p:spPr>
          <a:xfrm>
            <a:off x="766465" y="3310632"/>
            <a:ext cx="330696" cy="19050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9" name="Shape 6"/>
          <p:cNvSpPr/>
          <p:nvPr/>
        </p:nvSpPr>
        <p:spPr>
          <a:xfrm>
            <a:off x="723504" y="3258145"/>
            <a:ext cx="124023" cy="124023"/>
          </a:xfrm>
          <a:prstGeom prst="roundRect">
            <a:avLst>
              <a:gd name="adj" fmla="val 307200"/>
            </a:avLst>
          </a:prstGeom>
          <a:solidFill>
            <a:srgbClr val="1C9770"/>
          </a:solidFill>
          <a:ln/>
        </p:spPr>
      </p:sp>
      <p:sp>
        <p:nvSpPr>
          <p:cNvPr id="10" name="Text 7"/>
          <p:cNvSpPr/>
          <p:nvPr/>
        </p:nvSpPr>
        <p:spPr>
          <a:xfrm>
            <a:off x="1447106" y="3190974"/>
            <a:ext cx="236894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1990s Derivatives Boom</a:t>
            </a:r>
            <a:endParaRPr lang="en-US" sz="1625" dirty="0"/>
          </a:p>
        </p:txBody>
      </p:sp>
      <p:sp>
        <p:nvSpPr>
          <p:cNvPr id="11" name="Text 8"/>
          <p:cNvSpPr/>
          <p:nvPr/>
        </p:nvSpPr>
        <p:spPr>
          <a:xfrm>
            <a:off x="1447106" y="3548657"/>
            <a:ext cx="551140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Increased complexity demanded more structured oversight.</a:t>
            </a:r>
            <a:endParaRPr lang="en-US" sz="1292" dirty="0"/>
          </a:p>
        </p:txBody>
      </p:sp>
      <p:sp>
        <p:nvSpPr>
          <p:cNvPr id="12" name="Shape 9"/>
          <p:cNvSpPr/>
          <p:nvPr/>
        </p:nvSpPr>
        <p:spPr>
          <a:xfrm>
            <a:off x="766465" y="4320481"/>
            <a:ext cx="330696" cy="19050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13" name="Shape 10"/>
          <p:cNvSpPr/>
          <p:nvPr/>
        </p:nvSpPr>
        <p:spPr>
          <a:xfrm>
            <a:off x="723504" y="4267994"/>
            <a:ext cx="124023" cy="124023"/>
          </a:xfrm>
          <a:prstGeom prst="roundRect">
            <a:avLst>
              <a:gd name="adj" fmla="val 307200"/>
            </a:avLst>
          </a:prstGeom>
          <a:solidFill>
            <a:srgbClr val="1C9770"/>
          </a:solidFill>
          <a:ln/>
        </p:spPr>
      </p:sp>
      <p:sp>
        <p:nvSpPr>
          <p:cNvPr id="14" name="Text 11"/>
          <p:cNvSpPr/>
          <p:nvPr/>
        </p:nvSpPr>
        <p:spPr>
          <a:xfrm>
            <a:off x="1447106" y="4200823"/>
            <a:ext cx="220007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LTCM Collapse — 1998</a:t>
            </a:r>
            <a:endParaRPr lang="en-US" sz="1625" dirty="0"/>
          </a:p>
        </p:txBody>
      </p:sp>
      <p:sp>
        <p:nvSpPr>
          <p:cNvPr id="15" name="Text 12"/>
          <p:cNvSpPr/>
          <p:nvPr/>
        </p:nvSpPr>
        <p:spPr>
          <a:xfrm>
            <a:off x="1447106" y="4558507"/>
            <a:ext cx="551140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Demonstrated dangerous systemic interconnections across institutions.</a:t>
            </a:r>
            <a:endParaRPr lang="en-US" sz="1292" dirty="0"/>
          </a:p>
        </p:txBody>
      </p:sp>
      <p:sp>
        <p:nvSpPr>
          <p:cNvPr id="16" name="Shape 13"/>
          <p:cNvSpPr/>
          <p:nvPr/>
        </p:nvSpPr>
        <p:spPr>
          <a:xfrm>
            <a:off x="766465" y="5594945"/>
            <a:ext cx="330696" cy="19050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17" name="Shape 14"/>
          <p:cNvSpPr/>
          <p:nvPr/>
        </p:nvSpPr>
        <p:spPr>
          <a:xfrm>
            <a:off x="723504" y="5542459"/>
            <a:ext cx="124023" cy="124023"/>
          </a:xfrm>
          <a:prstGeom prst="roundRect">
            <a:avLst>
              <a:gd name="adj" fmla="val 307200"/>
            </a:avLst>
          </a:prstGeom>
          <a:solidFill>
            <a:srgbClr val="1C9770"/>
          </a:solidFill>
          <a:ln/>
        </p:spPr>
      </p:sp>
      <p:sp>
        <p:nvSpPr>
          <p:cNvPr id="18" name="Text 15"/>
          <p:cNvSpPr/>
          <p:nvPr/>
        </p:nvSpPr>
        <p:spPr>
          <a:xfrm>
            <a:off x="1447106" y="5475288"/>
            <a:ext cx="208061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2008 Financial Crisis</a:t>
            </a:r>
            <a:endParaRPr lang="en-US" sz="1625" dirty="0"/>
          </a:p>
        </p:txBody>
      </p:sp>
      <p:sp>
        <p:nvSpPr>
          <p:cNvPr id="19" name="Text 16"/>
          <p:cNvSpPr/>
          <p:nvPr/>
        </p:nvSpPr>
        <p:spPr>
          <a:xfrm>
            <a:off x="1447106" y="5832971"/>
            <a:ext cx="551140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Fundamentally reshaped governance expectations across the industry.</a:t>
            </a:r>
            <a:endParaRPr lang="en-US" sz="1292" dirty="0"/>
          </a:p>
        </p:txBody>
      </p:sp>
      <p:pic>
        <p:nvPicPr>
          <p:cNvPr id="20" name="Picture 19" descr="GARiME (Governance, Assurance and Risk ...">
            <a:extLst>
              <a:ext uri="{FF2B5EF4-FFF2-40B4-BE49-F238E27FC236}">
                <a16:creationId xmlns:a16="http://schemas.microsoft.com/office/drawing/2014/main" id="{FDD7C48F-E0A1-B5AE-56BC-A1F4862B5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241" y="146564"/>
            <a:ext cx="1514475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492" y="1883767"/>
            <a:ext cx="4134843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CRO Today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5114429" y="2648545"/>
            <a:ext cx="2849860" cy="2325588"/>
          </a:xfrm>
          <a:prstGeom prst="roundRect">
            <a:avLst>
              <a:gd name="adj" fmla="val 1067"/>
            </a:avLst>
          </a:prstGeom>
          <a:solidFill>
            <a:srgbClr val="1C9770"/>
          </a:solidFill>
          <a:ln/>
        </p:spPr>
      </p:sp>
      <p:sp>
        <p:nvSpPr>
          <p:cNvPr id="5" name="Text 2"/>
          <p:cNvSpPr/>
          <p:nvPr/>
        </p:nvSpPr>
        <p:spPr>
          <a:xfrm>
            <a:off x="5279728" y="2813844"/>
            <a:ext cx="227657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 Seat at the Top Table</a:t>
            </a:r>
            <a:endParaRPr lang="en-US" sz="1625" dirty="0"/>
          </a:p>
        </p:txBody>
      </p:sp>
      <p:sp>
        <p:nvSpPr>
          <p:cNvPr id="6" name="Text 3"/>
          <p:cNvSpPr/>
          <p:nvPr/>
        </p:nvSpPr>
        <p:spPr>
          <a:xfrm>
            <a:off x="5279728" y="3237607"/>
            <a:ext cx="2519263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Today, the CRO sits alongside the </a:t>
            </a:r>
            <a:r>
              <a:rPr lang="en-US" sz="1292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CEO and CFO</a:t>
            </a:r>
            <a:r>
              <a:rPr lang="en-US" sz="1292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reflecting how central risk governance has become to institutional leadership.</a:t>
            </a:r>
            <a:endParaRPr lang="en-US" sz="1292" dirty="0"/>
          </a:p>
        </p:txBody>
      </p:sp>
      <p:sp>
        <p:nvSpPr>
          <p:cNvPr id="7" name="Text 4"/>
          <p:cNvSpPr/>
          <p:nvPr/>
        </p:nvSpPr>
        <p:spPr>
          <a:xfrm>
            <a:off x="8255000" y="2813844"/>
            <a:ext cx="21638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An Evolving Discipline</a:t>
            </a:r>
            <a:endParaRPr lang="en-US" sz="1625" dirty="0"/>
          </a:p>
        </p:txBody>
      </p:sp>
      <p:sp>
        <p:nvSpPr>
          <p:cNvPr id="8" name="Text 5"/>
          <p:cNvSpPr/>
          <p:nvPr/>
        </p:nvSpPr>
        <p:spPr>
          <a:xfrm>
            <a:off x="8255001" y="3237607"/>
            <a:ext cx="3281759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evolution shows that Financial Risk Management is </a:t>
            </a:r>
            <a:r>
              <a:rPr lang="en-US" sz="1292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not static</a:t>
            </a: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it evolves in direct response to crises and growing complexity. Each major shock has reshaped the profession, raising standards and expanding its scope.</a:t>
            </a:r>
            <a:endParaRPr lang="en-US" sz="1292" dirty="0"/>
          </a:p>
        </p:txBody>
      </p:sp>
      <p:pic>
        <p:nvPicPr>
          <p:cNvPr id="10" name="Picture 9" descr="GARiME (Governance, Assurance and Risk ...">
            <a:extLst>
              <a:ext uri="{FF2B5EF4-FFF2-40B4-BE49-F238E27FC236}">
                <a16:creationId xmlns:a16="http://schemas.microsoft.com/office/drawing/2014/main" id="{AB470396-D6E3-E9F2-264A-E6BDC2551E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241" y="146564"/>
            <a:ext cx="1514475" cy="6191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Microsoft Office PowerPoint</Application>
  <PresentationFormat>Widescreen</PresentationFormat>
  <Paragraphs>16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Kothari</dc:creator>
  <cp:lastModifiedBy>Shubham Kothari</cp:lastModifiedBy>
  <cp:revision>5</cp:revision>
  <dcterms:created xsi:type="dcterms:W3CDTF">2026-02-25T00:55:21Z</dcterms:created>
  <dcterms:modified xsi:type="dcterms:W3CDTF">2026-02-26T19:06:17Z</dcterms:modified>
</cp:coreProperties>
</file>