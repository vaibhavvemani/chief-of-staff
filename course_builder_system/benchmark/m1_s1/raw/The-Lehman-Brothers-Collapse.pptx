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 Semi Bold" panose="020B0604020202020204" charset="0"/>
      <p:regular r:id="rId11"/>
    </p:embeddedFont>
    <p:embeddedFont>
      <p:font typeface="Inter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79BF3-1BBD-4509-E849-AFE467F51A65}" v="14" dt="2026-02-26T19:08:03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othari" userId="S::shubham.kothari@beyondrisx.com::a35e6b6d-f85b-4fae-a1b4-9ec46eefe994" providerId="AD" clId="Web-{FD579BF3-1BBD-4509-E849-AFE467F51A65}"/>
    <pc:docChg chg="addSld delSld modSld">
      <pc:chgData name="Shubham kothari" userId="S::shubham.kothari@beyondrisx.com::a35e6b6d-f85b-4fae-a1b4-9ec46eefe994" providerId="AD" clId="Web-{FD579BF3-1BBD-4509-E849-AFE467F51A65}" dt="2026-02-26T19:08:03.931" v="13"/>
      <pc:docMkLst>
        <pc:docMk/>
      </pc:docMkLst>
      <pc:sldChg chg="addSp modSp">
        <pc:chgData name="Shubham kothari" userId="S::shubham.kothari@beyondrisx.com::a35e6b6d-f85b-4fae-a1b4-9ec46eefe994" providerId="AD" clId="Web-{FD579BF3-1BBD-4509-E849-AFE467F51A65}" dt="2026-02-26T19:07:39.680" v="3" actId="1076"/>
        <pc:sldMkLst>
          <pc:docMk/>
          <pc:sldMk cId="0" sldId="256"/>
        </pc:sldMkLst>
        <pc:picChg chg="add mod">
          <ac:chgData name="Shubham kothari" userId="S::shubham.kothari@beyondrisx.com::a35e6b6d-f85b-4fae-a1b4-9ec46eefe994" providerId="AD" clId="Web-{FD579BF3-1BBD-4509-E849-AFE467F51A65}" dt="2026-02-26T19:07:39.680" v="3" actId="1076"/>
          <ac:picMkLst>
            <pc:docMk/>
            <pc:sldMk cId="0" sldId="256"/>
            <ac:picMk id="9" creationId="{62F14D45-55E0-A377-5390-3F6389A9E85A}"/>
          </ac:picMkLst>
        </pc:picChg>
      </pc:sldChg>
      <pc:sldChg chg="addSp delSp modSp">
        <pc:chgData name="Shubham kothari" userId="S::shubham.kothari@beyondrisx.com::a35e6b6d-f85b-4fae-a1b4-9ec46eefe994" providerId="AD" clId="Web-{FD579BF3-1BBD-4509-E849-AFE467F51A65}" dt="2026-02-26T19:07:51.352" v="7"/>
        <pc:sldMkLst>
          <pc:docMk/>
          <pc:sldMk cId="0" sldId="257"/>
        </pc:sldMkLst>
        <pc:picChg chg="add del mod">
          <ac:chgData name="Shubham kothari" userId="S::shubham.kothari@beyondrisx.com::a35e6b6d-f85b-4fae-a1b4-9ec46eefe994" providerId="AD" clId="Web-{FD579BF3-1BBD-4509-E849-AFE467F51A65}" dt="2026-02-26T19:07:45.915" v="6"/>
          <ac:picMkLst>
            <pc:docMk/>
            <pc:sldMk cId="0" sldId="257"/>
            <ac:picMk id="10" creationId="{7B803E79-62F4-1C0B-8A4C-032568C8245C}"/>
          </ac:picMkLst>
        </pc:picChg>
        <pc:picChg chg="add">
          <ac:chgData name="Shubham kothari" userId="S::shubham.kothari@beyondrisx.com::a35e6b6d-f85b-4fae-a1b4-9ec46eefe994" providerId="AD" clId="Web-{FD579BF3-1BBD-4509-E849-AFE467F51A65}" dt="2026-02-26T19:07:51.352" v="7"/>
          <ac:picMkLst>
            <pc:docMk/>
            <pc:sldMk cId="0" sldId="257"/>
            <ac:picMk id="12" creationId="{FB5C559D-1E71-AC69-D3D7-2E835BF5BD1F}"/>
          </ac:picMkLst>
        </pc:picChg>
      </pc:sldChg>
      <pc:sldChg chg="addSp">
        <pc:chgData name="Shubham kothari" userId="S::shubham.kothari@beyondrisx.com::a35e6b6d-f85b-4fae-a1b4-9ec46eefe994" providerId="AD" clId="Web-{FD579BF3-1BBD-4509-E849-AFE467F51A65}" dt="2026-02-26T19:07:53.649" v="8"/>
        <pc:sldMkLst>
          <pc:docMk/>
          <pc:sldMk cId="0" sldId="258"/>
        </pc:sldMkLst>
        <pc:picChg chg="add">
          <ac:chgData name="Shubham kothari" userId="S::shubham.kothari@beyondrisx.com::a35e6b6d-f85b-4fae-a1b4-9ec46eefe994" providerId="AD" clId="Web-{FD579BF3-1BBD-4509-E849-AFE467F51A65}" dt="2026-02-26T19:07:53.649" v="8"/>
          <ac:picMkLst>
            <pc:docMk/>
            <pc:sldMk cId="0" sldId="258"/>
            <ac:picMk id="23" creationId="{52504F06-734B-5DEB-8674-8CA3FBB6A87B}"/>
          </ac:picMkLst>
        </pc:picChg>
      </pc:sldChg>
      <pc:sldChg chg="addSp">
        <pc:chgData name="Shubham kothari" userId="S::shubham.kothari@beyondrisx.com::a35e6b6d-f85b-4fae-a1b4-9ec46eefe994" providerId="AD" clId="Web-{FD579BF3-1BBD-4509-E849-AFE467F51A65}" dt="2026-02-26T19:07:55.587" v="9"/>
        <pc:sldMkLst>
          <pc:docMk/>
          <pc:sldMk cId="0" sldId="259"/>
        </pc:sldMkLst>
        <pc:picChg chg="add">
          <ac:chgData name="Shubham kothari" userId="S::shubham.kothari@beyondrisx.com::a35e6b6d-f85b-4fae-a1b4-9ec46eefe994" providerId="AD" clId="Web-{FD579BF3-1BBD-4509-E849-AFE467F51A65}" dt="2026-02-26T19:07:55.587" v="9"/>
          <ac:picMkLst>
            <pc:docMk/>
            <pc:sldMk cId="0" sldId="259"/>
            <ac:picMk id="15" creationId="{4C9F36BD-8A5D-EA4F-D291-69F888B5754F}"/>
          </ac:picMkLst>
        </pc:picChg>
      </pc:sldChg>
      <pc:sldChg chg="addSp">
        <pc:chgData name="Shubham kothari" userId="S::shubham.kothari@beyondrisx.com::a35e6b6d-f85b-4fae-a1b4-9ec46eefe994" providerId="AD" clId="Web-{FD579BF3-1BBD-4509-E849-AFE467F51A65}" dt="2026-02-26T19:07:57.899" v="10"/>
        <pc:sldMkLst>
          <pc:docMk/>
          <pc:sldMk cId="0" sldId="260"/>
        </pc:sldMkLst>
        <pc:picChg chg="add">
          <ac:chgData name="Shubham kothari" userId="S::shubham.kothari@beyondrisx.com::a35e6b6d-f85b-4fae-a1b4-9ec46eefe994" providerId="AD" clId="Web-{FD579BF3-1BBD-4509-E849-AFE467F51A65}" dt="2026-02-26T19:07:57.899" v="10"/>
          <ac:picMkLst>
            <pc:docMk/>
            <pc:sldMk cId="0" sldId="260"/>
            <ac:picMk id="11" creationId="{016588B8-4555-5A35-3CD9-EB7A86CDCD2E}"/>
          </ac:picMkLst>
        </pc:picChg>
      </pc:sldChg>
      <pc:sldChg chg="addSp">
        <pc:chgData name="Shubham kothari" userId="S::shubham.kothari@beyondrisx.com::a35e6b6d-f85b-4fae-a1b4-9ec46eefe994" providerId="AD" clId="Web-{FD579BF3-1BBD-4509-E849-AFE467F51A65}" dt="2026-02-26T19:08:00.321" v="11"/>
        <pc:sldMkLst>
          <pc:docMk/>
          <pc:sldMk cId="0" sldId="261"/>
        </pc:sldMkLst>
        <pc:picChg chg="add">
          <ac:chgData name="Shubham kothari" userId="S::shubham.kothari@beyondrisx.com::a35e6b6d-f85b-4fae-a1b4-9ec46eefe994" providerId="AD" clId="Web-{FD579BF3-1BBD-4509-E849-AFE467F51A65}" dt="2026-02-26T19:08:00.321" v="11"/>
          <ac:picMkLst>
            <pc:docMk/>
            <pc:sldMk cId="0" sldId="261"/>
            <ac:picMk id="15" creationId="{4A706271-42B9-A863-C96D-37123F5DD4BC}"/>
          </ac:picMkLst>
        </pc:picChg>
      </pc:sldChg>
      <pc:sldChg chg="addSp">
        <pc:chgData name="Shubham kothari" userId="S::shubham.kothari@beyondrisx.com::a35e6b6d-f85b-4fae-a1b4-9ec46eefe994" providerId="AD" clId="Web-{FD579BF3-1BBD-4509-E849-AFE467F51A65}" dt="2026-02-26T19:08:02.227" v="12"/>
        <pc:sldMkLst>
          <pc:docMk/>
          <pc:sldMk cId="0" sldId="262"/>
        </pc:sldMkLst>
        <pc:picChg chg="add">
          <ac:chgData name="Shubham kothari" userId="S::shubham.kothari@beyondrisx.com::a35e6b6d-f85b-4fae-a1b4-9ec46eefe994" providerId="AD" clId="Web-{FD579BF3-1BBD-4509-E849-AFE467F51A65}" dt="2026-02-26T19:08:02.227" v="12"/>
          <ac:picMkLst>
            <pc:docMk/>
            <pc:sldMk cId="0" sldId="262"/>
            <ac:picMk id="24" creationId="{E0BFF0A7-B5FB-2A34-AFBB-B33616C8144C}"/>
          </ac:picMkLst>
        </pc:picChg>
      </pc:sldChg>
      <pc:sldChg chg="addSp">
        <pc:chgData name="Shubham kothari" userId="S::shubham.kothari@beyondrisx.com::a35e6b6d-f85b-4fae-a1b4-9ec46eefe994" providerId="AD" clId="Web-{FD579BF3-1BBD-4509-E849-AFE467F51A65}" dt="2026-02-26T19:08:03.931" v="13"/>
        <pc:sldMkLst>
          <pc:docMk/>
          <pc:sldMk cId="0" sldId="263"/>
        </pc:sldMkLst>
        <pc:picChg chg="add">
          <ac:chgData name="Shubham kothari" userId="S::shubham.kothari@beyondrisx.com::a35e6b6d-f85b-4fae-a1b4-9ec46eefe994" providerId="AD" clId="Web-{FD579BF3-1BBD-4509-E849-AFE467F51A65}" dt="2026-02-26T19:08:03.931" v="13"/>
          <ac:picMkLst>
            <pc:docMk/>
            <pc:sldMk cId="0" sldId="263"/>
            <ac:picMk id="16" creationId="{BA404482-D93E-29D7-46CC-8FF6208B2E9C}"/>
          </ac:picMkLst>
        </pc:picChg>
      </pc:sldChg>
      <pc:sldChg chg="add del replId">
        <pc:chgData name="Shubham kothari" userId="S::shubham.kothari@beyondrisx.com::a35e6b6d-f85b-4fae-a1b4-9ec46eefe994" providerId="AD" clId="Web-{FD579BF3-1BBD-4509-E849-AFE467F51A65}" dt="2026-02-26T19:07:18.259" v="1"/>
        <pc:sldMkLst>
          <pc:docMk/>
          <pc:sldMk cId="3591971359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742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86739"/>
            <a:ext cx="7556421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Lehman Brothers Collapse</a:t>
            </a:r>
            <a:endParaRPr lang="en-US" sz="5350" dirty="0"/>
          </a:p>
        </p:txBody>
      </p:sp>
      <p:sp>
        <p:nvSpPr>
          <p:cNvPr id="4" name="Text 1"/>
          <p:cNvSpPr/>
          <p:nvPr/>
        </p:nvSpPr>
        <p:spPr>
          <a:xfrm>
            <a:off x="6280190" y="449603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case study in Financial Risk Management — exploring how leverage, liquidity, and governance failures brought down a 158-year-old institution.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5361980"/>
            <a:ext cx="1628894" cy="373142"/>
          </a:xfrm>
          <a:prstGeom prst="roundRect">
            <a:avLst>
              <a:gd name="adj" fmla="val 6383"/>
            </a:avLst>
          </a:prstGeom>
          <a:solidFill>
            <a:srgbClr val="D4F7EC"/>
          </a:solidFill>
          <a:ln/>
        </p:spPr>
      </p:sp>
      <p:sp>
        <p:nvSpPr>
          <p:cNvPr id="6" name="Text 3"/>
          <p:cNvSpPr/>
          <p:nvPr/>
        </p:nvSpPr>
        <p:spPr>
          <a:xfrm>
            <a:off x="6399252" y="5421511"/>
            <a:ext cx="139076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FRM CASE STUDY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008263" y="5354360"/>
            <a:ext cx="2189202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4945" y="5421511"/>
            <a:ext cx="193583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ASSESSMENT INCLUDED</a:t>
            </a:r>
            <a:endParaRPr lang="en-US" sz="1250" dirty="0"/>
          </a:p>
        </p:txBody>
      </p:sp>
      <p:pic>
        <p:nvPicPr>
          <p:cNvPr id="9" name="Picture 8" descr="GARiME (Governance, Assurance and Risk ...">
            <a:extLst>
              <a:ext uri="{FF2B5EF4-FFF2-40B4-BE49-F238E27FC236}">
                <a16:creationId xmlns:a16="http://schemas.microsoft.com/office/drawing/2014/main" id="{62F14D45-55E0-A377-5390-3F6389A9E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276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Case Introduction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577846" y="3293745"/>
            <a:ext cx="72587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"In September 2008, Lehman Brothers — a 158-year-old investment bank — filed for bankruptcy. At the time, it was the fourth-largest investment bank in the United States."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070503"/>
            <a:ext cx="22860" cy="1399103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469284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question is not whether markets were volatile. Markets are always volatile.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5233630"/>
            <a:ext cx="7556421" cy="843201"/>
          </a:xfrm>
          <a:prstGeom prst="roundRect">
            <a:avLst>
              <a:gd name="adj" fmla="val 3531"/>
            </a:avLst>
          </a:prstGeom>
          <a:solidFill>
            <a:srgbClr val="BEF3E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48" y="5536525"/>
            <a:ext cx="248007" cy="1983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4913" y="5481518"/>
            <a:ext cx="67133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central question:</a:t>
            </a:r>
            <a:r>
              <a:rPr lang="en-US" sz="15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Why did Lehman fail?</a:t>
            </a:r>
            <a:endParaRPr lang="en-US" sz="1550" dirty="0"/>
          </a:p>
        </p:txBody>
      </p:sp>
      <p:pic>
        <p:nvPicPr>
          <p:cNvPr id="12" name="Picture 11" descr="GARiME (Governance, Assurance and Risk ...">
            <a:extLst>
              <a:ext uri="{FF2B5EF4-FFF2-40B4-BE49-F238E27FC236}">
                <a16:creationId xmlns:a16="http://schemas.microsoft.com/office/drawing/2014/main" id="{FB5C559D-1E71-AC69-D3D7-2E835BF5B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6191" y="410647"/>
            <a:ext cx="3429595" cy="428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Business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06191" y="1066800"/>
            <a:ext cx="5799296" cy="37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Lehman operated heavily in </a:t>
            </a:r>
            <a:r>
              <a:rPr lang="en-US" sz="10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mortgage-backed securities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It borrowed short-term funds from the repo market and invested in long-term, illiquid mortgage assets.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6191" y="1523047"/>
            <a:ext cx="5799296" cy="185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created a critical structural vulnerability at the heart of its balance sheet.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948970" y="981551"/>
            <a:ext cx="4881443" cy="1316355"/>
          </a:xfrm>
          <a:prstGeom prst="roundRect">
            <a:avLst>
              <a:gd name="adj" fmla="val 1563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8086130" y="1076325"/>
            <a:ext cx="1915001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Maturity Mismatch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6130" y="1385411"/>
            <a:ext cx="4607123" cy="37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Short-term liabilities.</a:t>
            </a: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Long-term assets.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86130" y="1841659"/>
            <a:ext cx="4607123" cy="37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Funding that could vanish overnight — tied to assets that could not be sold quickly.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191" y="2404467"/>
            <a:ext cx="10818019" cy="54143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54868" y="4732051"/>
            <a:ext cx="2031739" cy="60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Low Short-Term Liabilities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89808" y="7357843"/>
            <a:ext cx="2655681" cy="30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Low Long-Term Assets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632986" y="4732051"/>
            <a:ext cx="2031738" cy="60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High Short-Term Liabilities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954347" y="2626689"/>
            <a:ext cx="2714275" cy="30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High Long-Term Assets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937633" y="6192194"/>
            <a:ext cx="2085774" cy="41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Overnight Repo Borrowing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5729" y="5499694"/>
            <a:ext cx="302600" cy="30259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01521" y="6203001"/>
            <a:ext cx="2085774" cy="41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Short-Term Funding Reliance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3108" y="5506110"/>
            <a:ext cx="302599" cy="302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01521" y="4203684"/>
            <a:ext cx="2085774" cy="41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Illiquid Mortgage Assets</a:t>
            </a:r>
            <a:endParaRPr lang="en-US" sz="15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3108" y="3506793"/>
            <a:ext cx="302599" cy="30259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72791" y="4203684"/>
            <a:ext cx="2085774" cy="41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Concentrated MBS Holdings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64378" y="3506793"/>
            <a:ext cx="302599" cy="302599"/>
          </a:xfrm>
          <a:prstGeom prst="rect">
            <a:avLst/>
          </a:prstGeom>
        </p:spPr>
      </p:pic>
      <p:pic>
        <p:nvPicPr>
          <p:cNvPr id="23" name="Picture 22" descr="GARiME (Governance, Assurance and Risk ...">
            <a:extLst>
              <a:ext uri="{FF2B5EF4-FFF2-40B4-BE49-F238E27FC236}">
                <a16:creationId xmlns:a16="http://schemas.microsoft.com/office/drawing/2014/main" id="{52504F06-734B-5DEB-8674-8CA3FBB6A8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9198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Leverage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608898"/>
            <a:ext cx="3654147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30:1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1380411" y="35118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Leverage Ratio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3941088"/>
            <a:ext cx="36541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 every $1 of equity, Lehman held over $30 of assets.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695944" y="2608898"/>
            <a:ext cx="3654266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4th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5282565" y="35118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Largest US Bank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695944" y="3941088"/>
            <a:ext cx="36542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Lehman's scale made its leverage systemically dangerous.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49977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Good Times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93790" y="550628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leverage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magnifies returns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a small gain on assets produces outsized equity returns.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821674" y="49977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Bad Times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4821674" y="550628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leverage equally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magnifies losses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a small decline in asset value can wipe out equity entirely.</a:t>
            </a:r>
            <a:endParaRPr lang="en-US" sz="1550" dirty="0"/>
          </a:p>
        </p:txBody>
      </p:sp>
      <p:pic>
        <p:nvPicPr>
          <p:cNvPr id="15" name="Picture 14" descr="GARiME (Governance, Assurance and Risk ...">
            <a:extLst>
              <a:ext uri="{FF2B5EF4-FFF2-40B4-BE49-F238E27FC236}">
                <a16:creationId xmlns:a16="http://schemas.microsoft.com/office/drawing/2014/main" id="{4C9F36BD-8A5D-EA4F-D291-69F888B57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1788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Market Risk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214211"/>
            <a:ext cx="434018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When housing prices began declining, the value of </a:t>
            </a:r>
            <a:r>
              <a:rPr lang="en-US" sz="15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mortgage-backed securities fell</a:t>
            </a: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That directly exposed Lehman to market risk — the risk that asset values move against a firm's positions.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980503"/>
            <a:ext cx="434018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Losses mounted on the balance sheet as the housing market deteriorated through 2007 and into 2008.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82828" y="3035618"/>
            <a:ext cx="3017758" cy="3076099"/>
          </a:xfrm>
          <a:prstGeom prst="roundRect">
            <a:avLst>
              <a:gd name="adj" fmla="val 987"/>
            </a:avLst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5681186" y="32339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Insight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681186" y="3742492"/>
            <a:ext cx="262104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risk alone does not cause collapse.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681186" y="4556165"/>
            <a:ext cx="262104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It was the </a:t>
            </a:r>
            <a:r>
              <a:rPr lang="en-US" sz="1550" i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combination</a:t>
            </a:r>
            <a:r>
              <a:rPr lang="en-US" sz="15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risks that proved fatal.</a:t>
            </a:r>
            <a:endParaRPr lang="en-US" sz="1550" dirty="0"/>
          </a:p>
        </p:txBody>
      </p:sp>
      <p:pic>
        <p:nvPicPr>
          <p:cNvPr id="11" name="Picture 10" descr="GARiME (Governance, Assurance and Risk ...">
            <a:extLst>
              <a:ext uri="{FF2B5EF4-FFF2-40B4-BE49-F238E27FC236}">
                <a16:creationId xmlns:a16="http://schemas.microsoft.com/office/drawing/2014/main" id="{016588B8-4555-5A35-3CD9-EB7A86CDC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173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Liquidity Risk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1446" y="3661886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"Lehman did not suddenly become insolvent overnight. It became illiquid. And illiquidity kills faster than insolvency."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438644"/>
            <a:ext cx="22860" cy="764024"/>
          </a:xfrm>
          <a:prstGeom prst="rect">
            <a:avLst/>
          </a:prstGeom>
          <a:solidFill>
            <a:srgbClr val="1C97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4431983"/>
            <a:ext cx="297656" cy="297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632" y="44259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Confidence Erodes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38632" y="4855131"/>
            <a:ext cx="353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Counterparties began to lose confidence in Lehman's balance sheet as losses mounted.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8400" y="4431983"/>
            <a:ext cx="297656" cy="2976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68829" y="44259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Funding Withdrawn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868829" y="4855131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Short-term lenders refused to roll over funding — the repo market dried up almost overnight.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8716" y="4431983"/>
            <a:ext cx="297656" cy="2976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99144" y="44259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Collapse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0299144" y="4855131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Without short-term funding, Lehman could not operate — despite holding long-term assets.</a:t>
            </a:r>
            <a:endParaRPr lang="en-US" sz="1550" dirty="0"/>
          </a:p>
        </p:txBody>
      </p:sp>
      <p:pic>
        <p:nvPicPr>
          <p:cNvPr id="15" name="Picture 14" descr="GARiME (Governance, Assurance and Risk ...">
            <a:extLst>
              <a:ext uri="{FF2B5EF4-FFF2-40B4-BE49-F238E27FC236}">
                <a16:creationId xmlns:a16="http://schemas.microsoft.com/office/drawing/2014/main" id="{4A706271-42B9-A863-C96D-37123F5DD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708" y="1024414"/>
            <a:ext cx="5325308" cy="55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Risk Management Failure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712708" y="1821061"/>
            <a:ext cx="7718584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firm had models. It had VaR calculations. It had internal controls. Yet three critical failures occurred: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2708" y="2541984"/>
            <a:ext cx="7718584" cy="131730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5568" y="2564844"/>
            <a:ext cx="712708" cy="127158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958334" y="3033593"/>
            <a:ext cx="26717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608177" y="2742962"/>
            <a:ext cx="2227183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Excessive Leverage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608177" y="3117294"/>
            <a:ext cx="6622137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Leverage exceeded the firm's capacity to absorb losses under stress scenarios.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2708" y="4019193"/>
            <a:ext cx="7718584" cy="106906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5568" y="4042053"/>
            <a:ext cx="712708" cy="10233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58334" y="4386620"/>
            <a:ext cx="26717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608177" y="4220170"/>
            <a:ext cx="2643307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Tail Risk Underestimated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608177" y="4594503"/>
            <a:ext cx="6622137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Models failed to account for extreme, low-probability but high-impact events.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12708" y="5248156"/>
            <a:ext cx="7718584" cy="106906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5568" y="5271016"/>
            <a:ext cx="712708" cy="10233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958334" y="5615583"/>
            <a:ext cx="26717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608177" y="5449133"/>
            <a:ext cx="2372320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Liquidity Dependency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608177" y="5823466"/>
            <a:ext cx="6622137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Over-reliance on short-term funding with no adequate contingency plan.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12708" y="6497122"/>
            <a:ext cx="7718584" cy="707946"/>
          </a:xfrm>
          <a:prstGeom prst="roundRect">
            <a:avLst>
              <a:gd name="adj" fmla="val 3775"/>
            </a:avLst>
          </a:prstGeom>
          <a:solidFill>
            <a:srgbClr val="BEF3E2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26" y="6762036"/>
            <a:ext cx="222647" cy="17811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91590" y="6701552"/>
            <a:ext cx="696158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was not a failure of mathematics. It was a failure of risk alignment.</a:t>
            </a:r>
            <a:endParaRPr lang="en-US" sz="1400" dirty="0"/>
          </a:p>
        </p:txBody>
      </p:sp>
      <p:pic>
        <p:nvPicPr>
          <p:cNvPr id="24" name="Picture 23" descr="GARiME (Governance, Assurance and Risk ...">
            <a:extLst>
              <a:ext uri="{FF2B5EF4-FFF2-40B4-BE49-F238E27FC236}">
                <a16:creationId xmlns:a16="http://schemas.microsoft.com/office/drawing/2014/main" id="{E0BFF0A7-B5FB-2A34-AFBB-B33616C81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298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Teaching Transition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989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Lehman demonstrates that risk exists in layers — and that each layer interacts with the others: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10677"/>
            <a:ext cx="4215289" cy="1778556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7090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Market Risk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4138255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Triggered losses as housing prices declined and MBS values fell.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510677"/>
            <a:ext cx="4215408" cy="1778556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05795" y="37090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Liquidity Risk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05795" y="4138255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Accelerated collapse as short-term funding was withdrawn by counterparties.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510677"/>
            <a:ext cx="4215289" cy="1778556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19561" y="37090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Governance Failure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19561" y="4138255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Amplified exposure by allowing excessive leverage and poor risk alignment.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91446" y="5735717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"This is why Financial Risk Management is not optional — it is structural."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512475"/>
            <a:ext cx="22860" cy="764024"/>
          </a:xfrm>
          <a:prstGeom prst="rect">
            <a:avLst/>
          </a:prstGeom>
          <a:solidFill>
            <a:srgbClr val="1C9770"/>
          </a:solidFill>
          <a:ln/>
        </p:spPr>
      </p:sp>
      <p:pic>
        <p:nvPicPr>
          <p:cNvPr id="16" name="Picture 15" descr="GARiME (Governance, Assurance and Risk ...">
            <a:extLst>
              <a:ext uri="{FF2B5EF4-FFF2-40B4-BE49-F238E27FC236}">
                <a16:creationId xmlns:a16="http://schemas.microsoft.com/office/drawing/2014/main" id="{BA404482-D93E-29D7-46CC-8FF6208B2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9910" y="147638"/>
            <a:ext cx="1524000" cy="61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Custom</PresentationFormat>
  <Paragraphs>76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Shubham Kothari</cp:lastModifiedBy>
  <cp:revision>10</cp:revision>
  <dcterms:created xsi:type="dcterms:W3CDTF">2026-02-25T00:14:27Z</dcterms:created>
  <dcterms:modified xsi:type="dcterms:W3CDTF">2026-02-26T19:08:06Z</dcterms:modified>
</cp:coreProperties>
</file>