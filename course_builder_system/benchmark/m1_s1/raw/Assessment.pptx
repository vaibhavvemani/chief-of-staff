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64" r:id="rId2"/>
    <p:sldId id="265" r:id="rId3"/>
    <p:sldId id="266" r:id="rId4"/>
    <p:sldId id="267" r:id="rId5"/>
    <p:sldId id="268" r:id="rId6"/>
    <p:sldId id="269" r:id="rId7"/>
    <p:sldId id="270" r:id="rId8"/>
    <p:sldId id="271" r:id="rId9"/>
    <p:sldId id="272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DD2478A-69D3-25BD-3EB8-050C072487BB}" v="17" dt="2026-02-26T19:05:42.10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62" d="100"/>
          <a:sy n="62" d="100"/>
        </p:scale>
        <p:origin x="76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ubham kothari" userId="S::shubham.kothari@beyondrisx.com::a35e6b6d-f85b-4fae-a1b4-9ec46eefe994" providerId="AD" clId="Web-{9DD2478A-69D3-25BD-3EB8-050C072487BB}"/>
    <pc:docChg chg="addSld delSld modSld">
      <pc:chgData name="Shubham kothari" userId="S::shubham.kothari@beyondrisx.com::a35e6b6d-f85b-4fae-a1b4-9ec46eefe994" providerId="AD" clId="Web-{9DD2478A-69D3-25BD-3EB8-050C072487BB}" dt="2026-02-26T19:05:42.105" v="16" actId="1076"/>
      <pc:docMkLst>
        <pc:docMk/>
      </pc:docMkLst>
      <pc:sldChg chg="addSp modSp">
        <pc:chgData name="Shubham kothari" userId="S::shubham.kothari@beyondrisx.com::a35e6b6d-f85b-4fae-a1b4-9ec46eefe994" providerId="AD" clId="Web-{9DD2478A-69D3-25BD-3EB8-050C072487BB}" dt="2026-02-26T19:04:53.277" v="3" actId="14100"/>
        <pc:sldMkLst>
          <pc:docMk/>
          <pc:sldMk cId="0" sldId="264"/>
        </pc:sldMkLst>
        <pc:picChg chg="add mod">
          <ac:chgData name="Shubham kothari" userId="S::shubham.kothari@beyondrisx.com::a35e6b6d-f85b-4fae-a1b4-9ec46eefe994" providerId="AD" clId="Web-{9DD2478A-69D3-25BD-3EB8-050C072487BB}" dt="2026-02-26T19:04:53.277" v="3" actId="14100"/>
          <ac:picMkLst>
            <pc:docMk/>
            <pc:sldMk cId="0" sldId="264"/>
            <ac:picMk id="16" creationId="{D96BB721-9187-DCF2-C564-FEF753912302}"/>
          </ac:picMkLst>
        </pc:picChg>
      </pc:sldChg>
      <pc:sldChg chg="addSp">
        <pc:chgData name="Shubham kothari" userId="S::shubham.kothari@beyondrisx.com::a35e6b6d-f85b-4fae-a1b4-9ec46eefe994" providerId="AD" clId="Web-{9DD2478A-69D3-25BD-3EB8-050C072487BB}" dt="2026-02-26T19:04:57.761" v="4"/>
        <pc:sldMkLst>
          <pc:docMk/>
          <pc:sldMk cId="0" sldId="265"/>
        </pc:sldMkLst>
        <pc:picChg chg="add">
          <ac:chgData name="Shubham kothari" userId="S::shubham.kothari@beyondrisx.com::a35e6b6d-f85b-4fae-a1b4-9ec46eefe994" providerId="AD" clId="Web-{9DD2478A-69D3-25BD-3EB8-050C072487BB}" dt="2026-02-26T19:04:57.761" v="4"/>
          <ac:picMkLst>
            <pc:docMk/>
            <pc:sldMk cId="0" sldId="265"/>
            <ac:picMk id="22" creationId="{15E7F2E0-D1F0-C642-C440-EBF4E0F0DE9F}"/>
          </ac:picMkLst>
        </pc:picChg>
      </pc:sldChg>
      <pc:sldChg chg="addSp">
        <pc:chgData name="Shubham kothari" userId="S::shubham.kothari@beyondrisx.com::a35e6b6d-f85b-4fae-a1b4-9ec46eefe994" providerId="AD" clId="Web-{9DD2478A-69D3-25BD-3EB8-050C072487BB}" dt="2026-02-26T19:05:00.011" v="5"/>
        <pc:sldMkLst>
          <pc:docMk/>
          <pc:sldMk cId="0" sldId="266"/>
        </pc:sldMkLst>
        <pc:picChg chg="add">
          <ac:chgData name="Shubham kothari" userId="S::shubham.kothari@beyondrisx.com::a35e6b6d-f85b-4fae-a1b4-9ec46eefe994" providerId="AD" clId="Web-{9DD2478A-69D3-25BD-3EB8-050C072487BB}" dt="2026-02-26T19:05:00.011" v="5"/>
          <ac:picMkLst>
            <pc:docMk/>
            <pc:sldMk cId="0" sldId="266"/>
            <ac:picMk id="22" creationId="{CC17E201-7B2E-A3D2-8423-B11CA813AAF4}"/>
          </ac:picMkLst>
        </pc:picChg>
      </pc:sldChg>
      <pc:sldChg chg="addSp">
        <pc:chgData name="Shubham kothari" userId="S::shubham.kothari@beyondrisx.com::a35e6b6d-f85b-4fae-a1b4-9ec46eefe994" providerId="AD" clId="Web-{9DD2478A-69D3-25BD-3EB8-050C072487BB}" dt="2026-02-26T19:05:01.636" v="6"/>
        <pc:sldMkLst>
          <pc:docMk/>
          <pc:sldMk cId="0" sldId="267"/>
        </pc:sldMkLst>
        <pc:picChg chg="add">
          <ac:chgData name="Shubham kothari" userId="S::shubham.kothari@beyondrisx.com::a35e6b6d-f85b-4fae-a1b4-9ec46eefe994" providerId="AD" clId="Web-{9DD2478A-69D3-25BD-3EB8-050C072487BB}" dt="2026-02-26T19:05:01.636" v="6"/>
          <ac:picMkLst>
            <pc:docMk/>
            <pc:sldMk cId="0" sldId="267"/>
            <ac:picMk id="22" creationId="{6FC35777-AB38-FB88-B315-9D0705C33C8B}"/>
          </ac:picMkLst>
        </pc:picChg>
      </pc:sldChg>
      <pc:sldChg chg="addSp">
        <pc:chgData name="Shubham kothari" userId="S::shubham.kothari@beyondrisx.com::a35e6b6d-f85b-4fae-a1b4-9ec46eefe994" providerId="AD" clId="Web-{9DD2478A-69D3-25BD-3EB8-050C072487BB}" dt="2026-02-26T19:05:05.683" v="7"/>
        <pc:sldMkLst>
          <pc:docMk/>
          <pc:sldMk cId="0" sldId="268"/>
        </pc:sldMkLst>
        <pc:picChg chg="add">
          <ac:chgData name="Shubham kothari" userId="S::shubham.kothari@beyondrisx.com::a35e6b6d-f85b-4fae-a1b4-9ec46eefe994" providerId="AD" clId="Web-{9DD2478A-69D3-25BD-3EB8-050C072487BB}" dt="2026-02-26T19:05:05.683" v="7"/>
          <ac:picMkLst>
            <pc:docMk/>
            <pc:sldMk cId="0" sldId="268"/>
            <ac:picMk id="22" creationId="{2E8650B2-1F1E-0F57-A0C3-1FF4FD7C6762}"/>
          </ac:picMkLst>
        </pc:picChg>
      </pc:sldChg>
      <pc:sldChg chg="addSp">
        <pc:chgData name="Shubham kothari" userId="S::shubham.kothari@beyondrisx.com::a35e6b6d-f85b-4fae-a1b4-9ec46eefe994" providerId="AD" clId="Web-{9DD2478A-69D3-25BD-3EB8-050C072487BB}" dt="2026-02-26T19:05:08.058" v="8"/>
        <pc:sldMkLst>
          <pc:docMk/>
          <pc:sldMk cId="0" sldId="269"/>
        </pc:sldMkLst>
        <pc:picChg chg="add">
          <ac:chgData name="Shubham kothari" userId="S::shubham.kothari@beyondrisx.com::a35e6b6d-f85b-4fae-a1b4-9ec46eefe994" providerId="AD" clId="Web-{9DD2478A-69D3-25BD-3EB8-050C072487BB}" dt="2026-02-26T19:05:08.058" v="8"/>
          <ac:picMkLst>
            <pc:docMk/>
            <pc:sldMk cId="0" sldId="269"/>
            <ac:picMk id="22" creationId="{D48FB3E2-62FE-68A9-8C9C-0EC79404D635}"/>
          </ac:picMkLst>
        </pc:picChg>
      </pc:sldChg>
      <pc:sldChg chg="addSp">
        <pc:chgData name="Shubham kothari" userId="S::shubham.kothari@beyondrisx.com::a35e6b6d-f85b-4fae-a1b4-9ec46eefe994" providerId="AD" clId="Web-{9DD2478A-69D3-25BD-3EB8-050C072487BB}" dt="2026-02-26T19:05:35.121" v="13"/>
        <pc:sldMkLst>
          <pc:docMk/>
          <pc:sldMk cId="0" sldId="270"/>
        </pc:sldMkLst>
        <pc:picChg chg="add">
          <ac:chgData name="Shubham kothari" userId="S::shubham.kothari@beyondrisx.com::a35e6b6d-f85b-4fae-a1b4-9ec46eefe994" providerId="AD" clId="Web-{9DD2478A-69D3-25BD-3EB8-050C072487BB}" dt="2026-02-26T19:05:35.121" v="13"/>
          <ac:picMkLst>
            <pc:docMk/>
            <pc:sldMk cId="0" sldId="270"/>
            <ac:picMk id="22" creationId="{5D07AF5D-270F-6668-F502-201B0911288A}"/>
          </ac:picMkLst>
        </pc:picChg>
      </pc:sldChg>
      <pc:sldChg chg="addSp">
        <pc:chgData name="Shubham kothari" userId="S::shubham.kothari@beyondrisx.com::a35e6b6d-f85b-4fae-a1b4-9ec46eefe994" providerId="AD" clId="Web-{9DD2478A-69D3-25BD-3EB8-050C072487BB}" dt="2026-02-26T19:05:37.308" v="14"/>
        <pc:sldMkLst>
          <pc:docMk/>
          <pc:sldMk cId="0" sldId="271"/>
        </pc:sldMkLst>
        <pc:picChg chg="add">
          <ac:chgData name="Shubham kothari" userId="S::shubham.kothari@beyondrisx.com::a35e6b6d-f85b-4fae-a1b4-9ec46eefe994" providerId="AD" clId="Web-{9DD2478A-69D3-25BD-3EB8-050C072487BB}" dt="2026-02-26T19:05:37.308" v="14"/>
          <ac:picMkLst>
            <pc:docMk/>
            <pc:sldMk cId="0" sldId="271"/>
            <ac:picMk id="22" creationId="{52FB9477-04DE-18BC-B7B9-92D903525E29}"/>
          </ac:picMkLst>
        </pc:picChg>
      </pc:sldChg>
      <pc:sldChg chg="addSp modSp">
        <pc:chgData name="Shubham kothari" userId="S::shubham.kothari@beyondrisx.com::a35e6b6d-f85b-4fae-a1b4-9ec46eefe994" providerId="AD" clId="Web-{9DD2478A-69D3-25BD-3EB8-050C072487BB}" dt="2026-02-26T19:05:42.105" v="16" actId="1076"/>
        <pc:sldMkLst>
          <pc:docMk/>
          <pc:sldMk cId="0" sldId="272"/>
        </pc:sldMkLst>
        <pc:picChg chg="add mod">
          <ac:chgData name="Shubham kothari" userId="S::shubham.kothari@beyondrisx.com::a35e6b6d-f85b-4fae-a1b4-9ec46eefe994" providerId="AD" clId="Web-{9DD2478A-69D3-25BD-3EB8-050C072487BB}" dt="2026-02-26T19:05:42.105" v="16" actId="1076"/>
          <ac:picMkLst>
            <pc:docMk/>
            <pc:sldMk cId="0" sldId="272"/>
            <ac:picMk id="17" creationId="{ECD663D3-304B-6532-D87A-3CD5D995399C}"/>
          </ac:picMkLst>
        </pc:picChg>
      </pc:sldChg>
      <pc:sldChg chg="add del replId">
        <pc:chgData name="Shubham kothari" userId="S::shubham.kothari@beyondrisx.com::a35e6b6d-f85b-4fae-a1b4-9ec46eefe994" providerId="AD" clId="Web-{9DD2478A-69D3-25BD-3EB8-050C072487BB}" dt="2026-02-26T19:05:15.918" v="10"/>
        <pc:sldMkLst>
          <pc:docMk/>
          <pc:sldMk cId="2683139478" sldId="273"/>
        </pc:sldMkLst>
      </pc:sldChg>
      <pc:sldChg chg="add del replId">
        <pc:chgData name="Shubham kothari" userId="S::shubham.kothari@beyondrisx.com::a35e6b6d-f85b-4fae-a1b4-9ec46eefe994" providerId="AD" clId="Web-{9DD2478A-69D3-25BD-3EB8-050C072487BB}" dt="2026-02-26T19:05:28.293" v="12"/>
        <pc:sldMkLst>
          <pc:docMk/>
          <pc:sldMk cId="3228163098" sldId="273"/>
        </pc:sldMkLst>
      </pc:sldChg>
    </pc:docChg>
  </pc:docChgLst>
  <pc:docChgLst>
    <pc:chgData name="Shubham Kothari" userId="02b1dfd95fe408e1" providerId="LiveId" clId="{635A0DB9-2ED4-4798-AC76-1F96235EECAA}"/>
    <pc:docChg chg="undo custSel addSld delSld">
      <pc:chgData name="Shubham Kothari" userId="02b1dfd95fe408e1" providerId="LiveId" clId="{635A0DB9-2ED4-4798-AC76-1F96235EECAA}" dt="2026-02-25T01:17:53.047" v="3" actId="47"/>
      <pc:docMkLst>
        <pc:docMk/>
      </pc:docMkLst>
      <pc:sldChg chg="add del">
        <pc:chgData name="Shubham Kothari" userId="02b1dfd95fe408e1" providerId="LiveId" clId="{635A0DB9-2ED4-4798-AC76-1F96235EECAA}" dt="2026-02-25T01:17:53.047" v="3" actId="47"/>
        <pc:sldMkLst>
          <pc:docMk/>
          <pc:sldMk cId="591741418" sldId="256"/>
        </pc:sldMkLst>
      </pc:sldChg>
      <pc:sldChg chg="add">
        <pc:chgData name="Shubham Kothari" userId="02b1dfd95fe408e1" providerId="LiveId" clId="{635A0DB9-2ED4-4798-AC76-1F96235EECAA}" dt="2026-02-25T01:17:48.912" v="2" actId="47"/>
        <pc:sldMkLst>
          <pc:docMk/>
          <pc:sldMk cId="0" sldId="264"/>
        </pc:sldMkLst>
      </pc:sldChg>
      <pc:sldMasterChg chg="addSldLayout">
        <pc:chgData name="Shubham Kothari" userId="02b1dfd95fe408e1" providerId="LiveId" clId="{635A0DB9-2ED4-4798-AC76-1F96235EECAA}" dt="2026-02-25T01:17:48.912" v="2" actId="47"/>
        <pc:sldMasterMkLst>
          <pc:docMk/>
          <pc:sldMasterMk cId="3135577748" sldId="2147483648"/>
        </pc:sldMasterMkLst>
        <pc:sldLayoutChg chg="add">
          <pc:chgData name="Shubham Kothari" userId="02b1dfd95fe408e1" providerId="LiveId" clId="{635A0DB9-2ED4-4798-AC76-1F96235EECAA}" dt="2026-02-25T01:17:48.912" v="2" actId="47"/>
          <pc:sldLayoutMkLst>
            <pc:docMk/>
            <pc:sldMasterMk cId="3135577748" sldId="2147483648"/>
            <pc:sldLayoutMk cId="2249421273" sldId="2147483660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9D45EC-36F1-49F3-B200-2A95DCBE9C7D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FA5D0A-E32C-455C-9313-596B21986D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68040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B83E9-02BE-48ED-C309-0BB30B49C3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86FBF2-7CB0-82BB-886F-8ABBFCEC23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25F4B3-7540-364F-B1B0-F181C59864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875AD-8B51-4FAD-A210-8D77ED6B16B9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C5A7BC-B92A-0E8B-E76A-3FB2463E8E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ADCF2C-B8A6-5D8C-C94E-DFF4467287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C61B6-3C98-40E2-A0CA-7903C050EF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72582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C6EB6-6856-62F6-63A1-2C620133E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A2910F-CD59-6D39-8C4B-662B16D672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E78923-239E-72EB-042C-4AB30EB739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875AD-8B51-4FAD-A210-8D77ED6B16B9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228614-D927-0AC3-0E0B-6B66ABB9A8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B76E4A-12A0-191A-1F99-D2D56343F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C61B6-3C98-40E2-A0CA-7903C050EF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08916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23045E-8007-C0D4-D48B-2B52123035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120A0A-C9C5-5E07-B20F-0B17357BA7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082797-93D0-627D-BFF3-EAE9E80648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875AD-8B51-4FAD-A210-8D77ED6B16B9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C9B638-840C-5594-6408-10E4D22EBB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C791A1-32C0-F7CB-7528-1980C481C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C61B6-3C98-40E2-A0CA-7903C050EF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363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902E5-E741-1B84-5BA5-ADDF284A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859028-D330-45E2-6539-E11EAF6287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75F275-EE8F-FA26-4456-F72C64C124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E13E5C-CEFD-220F-B485-F19FA4AF9B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875AD-8B51-4FAD-A210-8D77ED6B16B9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9B24D2-C118-8393-E0C0-E5FC227E5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E639EC-3104-9F8C-C7EA-BBE7602CE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C61B6-3C98-40E2-A0CA-7903C050EF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02894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04473-01EC-4513-ECC3-4F9F24B6DE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1C5D16-C83E-BFFE-44E9-3513435F12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8F3894-3EEB-3CE7-A216-CD6EBFBF01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2ACA56-FBBB-71B3-277C-B025DEDE8D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D147FCD-51CE-ABCF-8186-E4BC36F792B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9756AFB-B2A2-619F-6BA8-BDBF9B652C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875AD-8B51-4FAD-A210-8D77ED6B16B9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84ADEB3-01E7-E9CD-56D7-77F288BC34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04779F4-B4B4-B889-274B-45CA48028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C61B6-3C98-40E2-A0CA-7903C050EF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53988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5379AF-DDCD-9DE8-7972-59526AF302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5A6C6C-B9C6-51C9-AD8B-E112C45191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875AD-8B51-4FAD-A210-8D77ED6B16B9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AAF2D9-9C9D-8B6C-88FF-059DCC0E7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C967A8-1049-495E-8425-0A67C3ECA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C61B6-3C98-40E2-A0CA-7903C050EF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94823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4807271-6285-BE76-2F9C-6708B04D5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875AD-8B51-4FAD-A210-8D77ED6B16B9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4974E7B-402B-5806-2C51-0B9DCA6C0A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BCBC3-30F2-D5BC-EAFD-4BFE87F58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C61B6-3C98-40E2-A0CA-7903C050EF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24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0EA8BC-FF1F-A1EA-2CC6-3DBA313102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172F8F-B4CF-BD15-A628-39E4A36EDF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C1BC0D-10B9-5A03-79DC-396116AD11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FF323B-9A58-9DE2-078F-FD843DFBC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875AD-8B51-4FAD-A210-8D77ED6B16B9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5FFF59-35DF-38B5-1093-AAA2302D11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91C9B5-F1D3-427B-157F-C8FE9B0B7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C61B6-3C98-40E2-A0CA-7903C050EF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74941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8FAE31-F841-7551-84CE-61AB999A58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210926B-DA38-A829-6A1A-D8FE529A22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C932C0-DE30-1EAF-664E-164F42D87E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C2B83E-2BA8-EE0A-356D-CD4ECE7A53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875AD-8B51-4FAD-A210-8D77ED6B16B9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A713BC-E147-0948-F776-F38E87CBEB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F3AE75-BD53-3D8F-9BE2-53C727C68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C61B6-3C98-40E2-A0CA-7903C050EF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05336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C32B9A-DC6C-CDE6-B989-EA765EE307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6E864F-C5A0-8F19-96E3-81116CE199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E65EC5-1C0B-C95B-BA2D-4CBC972502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875AD-8B51-4FAD-A210-8D77ED6B16B9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A98F2B-4C77-B27E-CEC9-30085F97B4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0B735F-A808-EB6D-3B39-A74BAE409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C61B6-3C98-40E2-A0CA-7903C050EF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19337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2D643ED-DEFE-495B-D1A5-3772047D26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4061080-D959-F4EA-58F9-5FC4C5C3B5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FF26C6-E185-7E8F-CA17-760ADC4BD9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875AD-8B51-4FAD-A210-8D77ED6B16B9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1FA98A-5A2E-EA90-053D-CA4052E530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44DC06-AEC1-CDCE-5AC7-A79898D65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C61B6-3C98-40E2-A0CA-7903C050EF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42385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</p:spTree>
    <p:extLst>
      <p:ext uri="{BB962C8B-B14F-4D97-AF65-F5344CB8AC3E}">
        <p14:creationId xmlns:p14="http://schemas.microsoft.com/office/powerpoint/2010/main" val="22494212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</p:spTree>
    <p:extLst>
      <p:ext uri="{BB962C8B-B14F-4D97-AF65-F5344CB8AC3E}">
        <p14:creationId xmlns:p14="http://schemas.microsoft.com/office/powerpoint/2010/main" val="27114227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</p:spTree>
    <p:extLst>
      <p:ext uri="{BB962C8B-B14F-4D97-AF65-F5344CB8AC3E}">
        <p14:creationId xmlns:p14="http://schemas.microsoft.com/office/powerpoint/2010/main" val="344936420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</p:spTree>
    <p:extLst>
      <p:ext uri="{BB962C8B-B14F-4D97-AF65-F5344CB8AC3E}">
        <p14:creationId xmlns:p14="http://schemas.microsoft.com/office/powerpoint/2010/main" val="35662372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</p:spTree>
    <p:extLst>
      <p:ext uri="{BB962C8B-B14F-4D97-AF65-F5344CB8AC3E}">
        <p14:creationId xmlns:p14="http://schemas.microsoft.com/office/powerpoint/2010/main" val="135584171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</p:spTree>
    <p:extLst>
      <p:ext uri="{BB962C8B-B14F-4D97-AF65-F5344CB8AC3E}">
        <p14:creationId xmlns:p14="http://schemas.microsoft.com/office/powerpoint/2010/main" val="101324224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</p:spTree>
    <p:extLst>
      <p:ext uri="{BB962C8B-B14F-4D97-AF65-F5344CB8AC3E}">
        <p14:creationId xmlns:p14="http://schemas.microsoft.com/office/powerpoint/2010/main" val="163797907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</p:spTree>
    <p:extLst>
      <p:ext uri="{BB962C8B-B14F-4D97-AF65-F5344CB8AC3E}">
        <p14:creationId xmlns:p14="http://schemas.microsoft.com/office/powerpoint/2010/main" val="168040495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</p:spTree>
    <p:extLst>
      <p:ext uri="{BB962C8B-B14F-4D97-AF65-F5344CB8AC3E}">
        <p14:creationId xmlns:p14="http://schemas.microsoft.com/office/powerpoint/2010/main" val="1576208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F702C2-0F8B-82F9-8C28-B68B16D96F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7F8321-6527-4AEB-439B-B96B49805A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69DE26-6242-8DAB-A003-A23C58F068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A875AD-8B51-4FAD-A210-8D77ED6B16B9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754786-AEEA-1D2F-442A-34CB0C2EBF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20C4CA-03B8-22FB-BBD0-9D4B406D4B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3C61B6-3C98-40E2-A0CA-7903C050EF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55777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0" y="0"/>
            <a:ext cx="457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61492" y="1234381"/>
            <a:ext cx="1099939" cy="310952"/>
          </a:xfrm>
          <a:prstGeom prst="roundRect">
            <a:avLst>
              <a:gd name="adj" fmla="val 6383"/>
            </a:avLst>
          </a:prstGeom>
          <a:solidFill>
            <a:srgbClr val="D4F7EC"/>
          </a:solidFill>
          <a:ln/>
        </p:spPr>
      </p:sp>
      <p:sp>
        <p:nvSpPr>
          <p:cNvPr id="4" name="Text 1"/>
          <p:cNvSpPr/>
          <p:nvPr/>
        </p:nvSpPr>
        <p:spPr>
          <a:xfrm>
            <a:off x="760710" y="1283990"/>
            <a:ext cx="901502" cy="2117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667"/>
              </a:lnSpc>
            </a:pPr>
            <a:r>
              <a:rPr lang="en-US" sz="1042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ASSESSMENT</a:t>
            </a:r>
            <a:endParaRPr lang="en-US" sz="1042" dirty="0"/>
          </a:p>
        </p:txBody>
      </p:sp>
      <p:sp>
        <p:nvSpPr>
          <p:cNvPr id="5" name="Text 2"/>
          <p:cNvSpPr/>
          <p:nvPr/>
        </p:nvSpPr>
        <p:spPr>
          <a:xfrm>
            <a:off x="661492" y="1611412"/>
            <a:ext cx="5706070" cy="713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583"/>
              </a:lnSpc>
            </a:pPr>
            <a:r>
              <a:rPr lang="en-US" sz="4458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Assessment Quiz</a:t>
            </a:r>
            <a:endParaRPr lang="en-US" sz="4458" dirty="0"/>
          </a:p>
        </p:txBody>
      </p:sp>
      <p:sp>
        <p:nvSpPr>
          <p:cNvPr id="6" name="Text 3"/>
          <p:cNvSpPr/>
          <p:nvPr/>
        </p:nvSpPr>
        <p:spPr>
          <a:xfrm>
            <a:off x="661492" y="2572644"/>
            <a:ext cx="6297018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083"/>
              </a:lnSpc>
            </a:pPr>
            <a:r>
              <a:rPr lang="en-US" sz="1292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Test your understanding of Financial Risk Management concepts covered in the Lehman Brothers case study. The quiz is divided into three sections: Conceptual, Analytical, and Application.</a:t>
            </a:r>
            <a:endParaRPr lang="en-US" sz="1292" dirty="0"/>
          </a:p>
        </p:txBody>
      </p:sp>
      <p:sp>
        <p:nvSpPr>
          <p:cNvPr id="7" name="Shape 4"/>
          <p:cNvSpPr/>
          <p:nvPr/>
        </p:nvSpPr>
        <p:spPr>
          <a:xfrm>
            <a:off x="661492" y="3552527"/>
            <a:ext cx="3065859" cy="952897"/>
          </a:xfrm>
          <a:prstGeom prst="roundRect">
            <a:avLst>
              <a:gd name="adj" fmla="val 2604"/>
            </a:avLst>
          </a:prstGeom>
          <a:solidFill>
            <a:srgbClr val="F2EEEE"/>
          </a:solidFill>
          <a:ln/>
        </p:spPr>
      </p:sp>
      <p:sp>
        <p:nvSpPr>
          <p:cNvPr id="8" name="Text 5"/>
          <p:cNvSpPr/>
          <p:nvPr/>
        </p:nvSpPr>
        <p:spPr>
          <a:xfrm>
            <a:off x="826790" y="3717826"/>
            <a:ext cx="206742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00"/>
              </a:lnSpc>
            </a:pPr>
            <a:r>
              <a:rPr lang="en-US" sz="1625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Section A</a:t>
            </a:r>
            <a:endParaRPr lang="en-US" sz="1625" dirty="0"/>
          </a:p>
        </p:txBody>
      </p:sp>
      <p:sp>
        <p:nvSpPr>
          <p:cNvPr id="9" name="Text 6"/>
          <p:cNvSpPr/>
          <p:nvPr/>
        </p:nvSpPr>
        <p:spPr>
          <a:xfrm>
            <a:off x="826790" y="4075509"/>
            <a:ext cx="2735263" cy="264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83"/>
              </a:lnSpc>
            </a:pPr>
            <a:r>
              <a:rPr lang="en-US" sz="1292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Conceptual — Q1 to Q3</a:t>
            </a:r>
            <a:endParaRPr lang="en-US" sz="1292" dirty="0"/>
          </a:p>
        </p:txBody>
      </p:sp>
      <p:sp>
        <p:nvSpPr>
          <p:cNvPr id="10" name="Shape 7"/>
          <p:cNvSpPr/>
          <p:nvPr/>
        </p:nvSpPr>
        <p:spPr>
          <a:xfrm>
            <a:off x="3892650" y="3552527"/>
            <a:ext cx="3065859" cy="952897"/>
          </a:xfrm>
          <a:prstGeom prst="roundRect">
            <a:avLst>
              <a:gd name="adj" fmla="val 2604"/>
            </a:avLst>
          </a:prstGeom>
          <a:solidFill>
            <a:srgbClr val="F2EEEE"/>
          </a:solidFill>
          <a:ln/>
        </p:spPr>
      </p:sp>
      <p:sp>
        <p:nvSpPr>
          <p:cNvPr id="11" name="Text 8"/>
          <p:cNvSpPr/>
          <p:nvPr/>
        </p:nvSpPr>
        <p:spPr>
          <a:xfrm>
            <a:off x="4057948" y="3717826"/>
            <a:ext cx="206742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00"/>
              </a:lnSpc>
            </a:pPr>
            <a:r>
              <a:rPr lang="en-US" sz="1625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Section B</a:t>
            </a:r>
            <a:endParaRPr lang="en-US" sz="1625" dirty="0"/>
          </a:p>
        </p:txBody>
      </p:sp>
      <p:sp>
        <p:nvSpPr>
          <p:cNvPr id="12" name="Text 9"/>
          <p:cNvSpPr/>
          <p:nvPr/>
        </p:nvSpPr>
        <p:spPr>
          <a:xfrm>
            <a:off x="4057948" y="4075509"/>
            <a:ext cx="2735263" cy="264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83"/>
              </a:lnSpc>
            </a:pPr>
            <a:r>
              <a:rPr lang="en-US" sz="1292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Analytical — Q4 to Q5</a:t>
            </a:r>
            <a:endParaRPr lang="en-US" sz="1292" dirty="0"/>
          </a:p>
        </p:txBody>
      </p:sp>
      <p:sp>
        <p:nvSpPr>
          <p:cNvPr id="13" name="Shape 10"/>
          <p:cNvSpPr/>
          <p:nvPr/>
        </p:nvSpPr>
        <p:spPr>
          <a:xfrm>
            <a:off x="661492" y="4670722"/>
            <a:ext cx="6297018" cy="952897"/>
          </a:xfrm>
          <a:prstGeom prst="roundRect">
            <a:avLst>
              <a:gd name="adj" fmla="val 2604"/>
            </a:avLst>
          </a:prstGeom>
          <a:solidFill>
            <a:srgbClr val="F2EEEE"/>
          </a:solidFill>
          <a:ln/>
        </p:spPr>
      </p:sp>
      <p:sp>
        <p:nvSpPr>
          <p:cNvPr id="14" name="Text 11"/>
          <p:cNvSpPr/>
          <p:nvPr/>
        </p:nvSpPr>
        <p:spPr>
          <a:xfrm>
            <a:off x="826790" y="4836021"/>
            <a:ext cx="206742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00"/>
              </a:lnSpc>
            </a:pPr>
            <a:r>
              <a:rPr lang="en-US" sz="1625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Section C</a:t>
            </a:r>
            <a:endParaRPr lang="en-US" sz="1625" dirty="0"/>
          </a:p>
        </p:txBody>
      </p:sp>
      <p:sp>
        <p:nvSpPr>
          <p:cNvPr id="15" name="Text 12"/>
          <p:cNvSpPr/>
          <p:nvPr/>
        </p:nvSpPr>
        <p:spPr>
          <a:xfrm>
            <a:off x="826790" y="5193705"/>
            <a:ext cx="5966420" cy="264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83"/>
              </a:lnSpc>
            </a:pPr>
            <a:r>
              <a:rPr lang="en-US" sz="1292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Application — Q6 to Q7</a:t>
            </a:r>
            <a:endParaRPr lang="en-US" sz="1292" dirty="0"/>
          </a:p>
        </p:txBody>
      </p:sp>
      <p:pic>
        <p:nvPicPr>
          <p:cNvPr id="16" name="Picture 15" descr="GARiME (Governance, Assurance and Risk ...">
            <a:extLst>
              <a:ext uri="{FF2B5EF4-FFF2-40B4-BE49-F238E27FC236}">
                <a16:creationId xmlns:a16="http://schemas.microsoft.com/office/drawing/2014/main" id="{D96BB721-9187-DCF2-C564-FEF7539123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53767" y="129259"/>
            <a:ext cx="1505621" cy="61080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92" y="1289645"/>
            <a:ext cx="2039243" cy="323652"/>
          </a:xfrm>
          <a:prstGeom prst="roundRect">
            <a:avLst>
              <a:gd name="adj" fmla="val 6132"/>
            </a:avLst>
          </a:prstGeom>
          <a:noFill/>
          <a:ln w="7620">
            <a:solidFill>
              <a:srgbClr val="1C977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67060" y="1345605"/>
            <a:ext cx="1828106" cy="2117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667"/>
              </a:lnSpc>
            </a:pPr>
            <a:r>
              <a:rPr lang="en-US" sz="1042" dirty="0">
                <a:solidFill>
                  <a:srgbClr val="1C977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SECTION A — CONCEPTUAL</a:t>
            </a:r>
            <a:endParaRPr lang="en-US" sz="1042" dirty="0"/>
          </a:p>
        </p:txBody>
      </p:sp>
      <p:sp>
        <p:nvSpPr>
          <p:cNvPr id="4" name="Text 2"/>
          <p:cNvSpPr/>
          <p:nvPr/>
        </p:nvSpPr>
        <p:spPr>
          <a:xfrm>
            <a:off x="661492" y="1679377"/>
            <a:ext cx="4585990" cy="5167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042"/>
              </a:lnSpc>
            </a:pPr>
            <a:r>
              <a:rPr lang="en-US" sz="32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Q1. Risk vs. Uncertainty</a:t>
            </a:r>
            <a:endParaRPr lang="en-US" sz="3250" dirty="0"/>
          </a:p>
        </p:txBody>
      </p:sp>
      <p:sp>
        <p:nvSpPr>
          <p:cNvPr id="5" name="Text 3"/>
          <p:cNvSpPr/>
          <p:nvPr/>
        </p:nvSpPr>
        <p:spPr>
          <a:xfrm>
            <a:off x="661492" y="2444155"/>
            <a:ext cx="10869018" cy="264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83"/>
              </a:lnSpc>
            </a:pPr>
            <a:r>
              <a:rPr lang="en-US" sz="1292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Which statement best distinguishes risk from uncertainty?</a:t>
            </a:r>
            <a:endParaRPr lang="en-US" sz="1292" dirty="0"/>
          </a:p>
        </p:txBody>
      </p:sp>
      <p:sp>
        <p:nvSpPr>
          <p:cNvPr id="6" name="Shape 4"/>
          <p:cNvSpPr/>
          <p:nvPr/>
        </p:nvSpPr>
        <p:spPr>
          <a:xfrm>
            <a:off x="661492" y="2894806"/>
            <a:ext cx="2593281" cy="1520230"/>
          </a:xfrm>
          <a:prstGeom prst="roundRect">
            <a:avLst>
              <a:gd name="adj" fmla="val 1632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5840" y="3079155"/>
            <a:ext cx="206742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00"/>
              </a:lnSpc>
            </a:pPr>
            <a:r>
              <a:rPr lang="en-US" sz="1625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A</a:t>
            </a:r>
            <a:endParaRPr lang="en-US" sz="1625" dirty="0"/>
          </a:p>
        </p:txBody>
      </p:sp>
      <p:sp>
        <p:nvSpPr>
          <p:cNvPr id="8" name="Text 6"/>
          <p:cNvSpPr/>
          <p:nvPr/>
        </p:nvSpPr>
        <p:spPr>
          <a:xfrm>
            <a:off x="845840" y="3436839"/>
            <a:ext cx="2224583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083"/>
              </a:lnSpc>
            </a:pPr>
            <a:r>
              <a:rPr lang="en-US" sz="1292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Risk involves losses; uncertainty involves gains.</a:t>
            </a:r>
            <a:endParaRPr lang="en-US" sz="1292" dirty="0"/>
          </a:p>
        </p:txBody>
      </p:sp>
      <p:sp>
        <p:nvSpPr>
          <p:cNvPr id="9" name="Shape 7"/>
          <p:cNvSpPr/>
          <p:nvPr/>
        </p:nvSpPr>
        <p:spPr>
          <a:xfrm>
            <a:off x="3420070" y="2894806"/>
            <a:ext cx="2593281" cy="1520230"/>
          </a:xfrm>
          <a:prstGeom prst="roundRect">
            <a:avLst>
              <a:gd name="adj" fmla="val 1632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04420" y="3079155"/>
            <a:ext cx="206742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00"/>
              </a:lnSpc>
            </a:pPr>
            <a:r>
              <a:rPr lang="en-US" sz="1625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B</a:t>
            </a:r>
            <a:endParaRPr lang="en-US" sz="1625" dirty="0"/>
          </a:p>
        </p:txBody>
      </p:sp>
      <p:sp>
        <p:nvSpPr>
          <p:cNvPr id="11" name="Text 9"/>
          <p:cNvSpPr/>
          <p:nvPr/>
        </p:nvSpPr>
        <p:spPr>
          <a:xfrm>
            <a:off x="3604419" y="3436839"/>
            <a:ext cx="2224583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083"/>
              </a:lnSpc>
            </a:pPr>
            <a:r>
              <a:rPr lang="en-US" sz="1292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Risk can be measured probabilistically; uncertainty cannot.</a:t>
            </a:r>
            <a:endParaRPr lang="en-US" sz="1292" dirty="0"/>
          </a:p>
        </p:txBody>
      </p:sp>
      <p:sp>
        <p:nvSpPr>
          <p:cNvPr id="12" name="Shape 10"/>
          <p:cNvSpPr/>
          <p:nvPr/>
        </p:nvSpPr>
        <p:spPr>
          <a:xfrm>
            <a:off x="6178650" y="2894806"/>
            <a:ext cx="2593281" cy="1520230"/>
          </a:xfrm>
          <a:prstGeom prst="roundRect">
            <a:avLst>
              <a:gd name="adj" fmla="val 1632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62998" y="3079155"/>
            <a:ext cx="206742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00"/>
              </a:lnSpc>
            </a:pPr>
            <a:r>
              <a:rPr lang="en-US" sz="1625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C</a:t>
            </a:r>
            <a:endParaRPr lang="en-US" sz="1625" dirty="0"/>
          </a:p>
        </p:txBody>
      </p:sp>
      <p:sp>
        <p:nvSpPr>
          <p:cNvPr id="14" name="Text 12"/>
          <p:cNvSpPr/>
          <p:nvPr/>
        </p:nvSpPr>
        <p:spPr>
          <a:xfrm>
            <a:off x="6362998" y="3436839"/>
            <a:ext cx="2224583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083"/>
              </a:lnSpc>
            </a:pPr>
            <a:r>
              <a:rPr lang="en-US" sz="1292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Risk is short-term; uncertainty is long-term.</a:t>
            </a:r>
            <a:endParaRPr lang="en-US" sz="1292" dirty="0"/>
          </a:p>
        </p:txBody>
      </p:sp>
      <p:sp>
        <p:nvSpPr>
          <p:cNvPr id="15" name="Shape 13"/>
          <p:cNvSpPr/>
          <p:nvPr/>
        </p:nvSpPr>
        <p:spPr>
          <a:xfrm>
            <a:off x="8937229" y="2894806"/>
            <a:ext cx="2593281" cy="1520230"/>
          </a:xfrm>
          <a:prstGeom prst="roundRect">
            <a:avLst>
              <a:gd name="adj" fmla="val 1632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21577" y="3079155"/>
            <a:ext cx="206742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00"/>
              </a:lnSpc>
            </a:pPr>
            <a:r>
              <a:rPr lang="en-US" sz="1625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D</a:t>
            </a:r>
            <a:endParaRPr lang="en-US" sz="1625" dirty="0"/>
          </a:p>
        </p:txBody>
      </p:sp>
      <p:sp>
        <p:nvSpPr>
          <p:cNvPr id="17" name="Text 15"/>
          <p:cNvSpPr/>
          <p:nvPr/>
        </p:nvSpPr>
        <p:spPr>
          <a:xfrm>
            <a:off x="9121577" y="3436839"/>
            <a:ext cx="2224583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083"/>
              </a:lnSpc>
            </a:pPr>
            <a:r>
              <a:rPr lang="en-US" sz="1292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Risk applies only to financial markets.</a:t>
            </a:r>
            <a:endParaRPr lang="en-US" sz="1292" dirty="0"/>
          </a:p>
        </p:txBody>
      </p:sp>
      <p:sp>
        <p:nvSpPr>
          <p:cNvPr id="18" name="Shape 16"/>
          <p:cNvSpPr/>
          <p:nvPr/>
        </p:nvSpPr>
        <p:spPr>
          <a:xfrm>
            <a:off x="661492" y="4601071"/>
            <a:ext cx="10869018" cy="967283"/>
          </a:xfrm>
          <a:prstGeom prst="roundRect">
            <a:avLst>
              <a:gd name="adj" fmla="val 2565"/>
            </a:avLst>
          </a:prstGeom>
          <a:solidFill>
            <a:srgbClr val="BEF3E2"/>
          </a:solidFill>
          <a:ln/>
        </p:spPr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790" y="4853484"/>
            <a:ext cx="206673" cy="165298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198761" y="4807644"/>
            <a:ext cx="10166449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083"/>
              </a:lnSpc>
            </a:pPr>
            <a:r>
              <a:rPr lang="en-US" sz="1292" b="1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Answer: B</a:t>
            </a:r>
            <a:r>
              <a:rPr lang="en-US" sz="1292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— Risk can be measured probabilistically; uncertainty cannot. This distinction is foundational to Financial Risk Management.</a:t>
            </a:r>
            <a:endParaRPr lang="en-US" sz="1292" dirty="0"/>
          </a:p>
        </p:txBody>
      </p:sp>
      <p:pic>
        <p:nvPicPr>
          <p:cNvPr id="22" name="Picture 21" descr="GARiME (Governance, Assurance and Risk ...">
            <a:extLst>
              <a:ext uri="{FF2B5EF4-FFF2-40B4-BE49-F238E27FC236}">
                <a16:creationId xmlns:a16="http://schemas.microsoft.com/office/drawing/2014/main" id="{15E7F2E0-D1F0-C642-C440-EBF4E0F0DE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53767" y="129259"/>
            <a:ext cx="1505621" cy="61080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92" y="1421904"/>
            <a:ext cx="2039243" cy="323652"/>
          </a:xfrm>
          <a:prstGeom prst="roundRect">
            <a:avLst>
              <a:gd name="adj" fmla="val 6132"/>
            </a:avLst>
          </a:prstGeom>
          <a:noFill/>
          <a:ln w="7620">
            <a:solidFill>
              <a:srgbClr val="1C977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67060" y="1477864"/>
            <a:ext cx="1828106" cy="2117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667"/>
              </a:lnSpc>
            </a:pPr>
            <a:r>
              <a:rPr lang="en-US" sz="1042" dirty="0">
                <a:solidFill>
                  <a:srgbClr val="1C977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SECTION A — CONCEPTUAL</a:t>
            </a:r>
            <a:endParaRPr lang="en-US" sz="1042" dirty="0"/>
          </a:p>
        </p:txBody>
      </p:sp>
      <p:sp>
        <p:nvSpPr>
          <p:cNvPr id="4" name="Text 2"/>
          <p:cNvSpPr/>
          <p:nvPr/>
        </p:nvSpPr>
        <p:spPr>
          <a:xfrm>
            <a:off x="661492" y="1811635"/>
            <a:ext cx="4134843" cy="5167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042"/>
              </a:lnSpc>
            </a:pPr>
            <a:r>
              <a:rPr lang="en-US" sz="32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Q2. Liquidity Risk</a:t>
            </a:r>
            <a:endParaRPr lang="en-US" sz="3250" dirty="0"/>
          </a:p>
        </p:txBody>
      </p:sp>
      <p:sp>
        <p:nvSpPr>
          <p:cNvPr id="5" name="Text 3"/>
          <p:cNvSpPr/>
          <p:nvPr/>
        </p:nvSpPr>
        <p:spPr>
          <a:xfrm>
            <a:off x="661492" y="2576413"/>
            <a:ext cx="10869018" cy="264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83"/>
              </a:lnSpc>
            </a:pPr>
            <a:r>
              <a:rPr lang="en-US" sz="1292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Liquidity risk primarily concerns:</a:t>
            </a:r>
            <a:endParaRPr lang="en-US" sz="1292" dirty="0"/>
          </a:p>
        </p:txBody>
      </p:sp>
      <p:sp>
        <p:nvSpPr>
          <p:cNvPr id="6" name="Shape 4"/>
          <p:cNvSpPr/>
          <p:nvPr/>
        </p:nvSpPr>
        <p:spPr>
          <a:xfrm>
            <a:off x="661492" y="3027065"/>
            <a:ext cx="2593281" cy="1255613"/>
          </a:xfrm>
          <a:prstGeom prst="roundRect">
            <a:avLst>
              <a:gd name="adj" fmla="val 1976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5840" y="3211413"/>
            <a:ext cx="206742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00"/>
              </a:lnSpc>
            </a:pPr>
            <a:r>
              <a:rPr lang="en-US" sz="1625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A</a:t>
            </a:r>
            <a:endParaRPr lang="en-US" sz="1625" dirty="0"/>
          </a:p>
        </p:txBody>
      </p:sp>
      <p:sp>
        <p:nvSpPr>
          <p:cNvPr id="8" name="Text 6"/>
          <p:cNvSpPr/>
          <p:nvPr/>
        </p:nvSpPr>
        <p:spPr>
          <a:xfrm>
            <a:off x="845840" y="3569097"/>
            <a:ext cx="2224583" cy="264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83"/>
              </a:lnSpc>
            </a:pPr>
            <a:r>
              <a:rPr lang="en-US" sz="1292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Asset value decline.</a:t>
            </a:r>
            <a:endParaRPr lang="en-US" sz="1292" dirty="0"/>
          </a:p>
        </p:txBody>
      </p:sp>
      <p:sp>
        <p:nvSpPr>
          <p:cNvPr id="9" name="Shape 7"/>
          <p:cNvSpPr/>
          <p:nvPr/>
        </p:nvSpPr>
        <p:spPr>
          <a:xfrm>
            <a:off x="3420070" y="3027065"/>
            <a:ext cx="2593281" cy="1255613"/>
          </a:xfrm>
          <a:prstGeom prst="roundRect">
            <a:avLst>
              <a:gd name="adj" fmla="val 1976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04420" y="3211413"/>
            <a:ext cx="206742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00"/>
              </a:lnSpc>
            </a:pPr>
            <a:r>
              <a:rPr lang="en-US" sz="1625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B</a:t>
            </a:r>
            <a:endParaRPr lang="en-US" sz="1625" dirty="0"/>
          </a:p>
        </p:txBody>
      </p:sp>
      <p:sp>
        <p:nvSpPr>
          <p:cNvPr id="11" name="Text 9"/>
          <p:cNvSpPr/>
          <p:nvPr/>
        </p:nvSpPr>
        <p:spPr>
          <a:xfrm>
            <a:off x="3604419" y="3569097"/>
            <a:ext cx="2224583" cy="264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83"/>
              </a:lnSpc>
            </a:pPr>
            <a:r>
              <a:rPr lang="en-US" sz="1292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Counterparty default.</a:t>
            </a:r>
            <a:endParaRPr lang="en-US" sz="1292" dirty="0"/>
          </a:p>
        </p:txBody>
      </p:sp>
      <p:sp>
        <p:nvSpPr>
          <p:cNvPr id="12" name="Shape 10"/>
          <p:cNvSpPr/>
          <p:nvPr/>
        </p:nvSpPr>
        <p:spPr>
          <a:xfrm>
            <a:off x="6178650" y="3027065"/>
            <a:ext cx="2593281" cy="1255613"/>
          </a:xfrm>
          <a:prstGeom prst="roundRect">
            <a:avLst>
              <a:gd name="adj" fmla="val 1976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62998" y="3211413"/>
            <a:ext cx="206742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00"/>
              </a:lnSpc>
            </a:pPr>
            <a:r>
              <a:rPr lang="en-US" sz="1625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C</a:t>
            </a:r>
            <a:endParaRPr lang="en-US" sz="1625" dirty="0"/>
          </a:p>
        </p:txBody>
      </p:sp>
      <p:sp>
        <p:nvSpPr>
          <p:cNvPr id="14" name="Text 12"/>
          <p:cNvSpPr/>
          <p:nvPr/>
        </p:nvSpPr>
        <p:spPr>
          <a:xfrm>
            <a:off x="6362998" y="3569097"/>
            <a:ext cx="2224583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083"/>
              </a:lnSpc>
            </a:pPr>
            <a:r>
              <a:rPr lang="en-US" sz="1292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Inability to meet obligations when due.</a:t>
            </a:r>
            <a:endParaRPr lang="en-US" sz="1292" dirty="0"/>
          </a:p>
        </p:txBody>
      </p:sp>
      <p:sp>
        <p:nvSpPr>
          <p:cNvPr id="15" name="Shape 13"/>
          <p:cNvSpPr/>
          <p:nvPr/>
        </p:nvSpPr>
        <p:spPr>
          <a:xfrm>
            <a:off x="8937229" y="3027065"/>
            <a:ext cx="2593281" cy="1255613"/>
          </a:xfrm>
          <a:prstGeom prst="roundRect">
            <a:avLst>
              <a:gd name="adj" fmla="val 1976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21577" y="3211413"/>
            <a:ext cx="206742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00"/>
              </a:lnSpc>
            </a:pPr>
            <a:r>
              <a:rPr lang="en-US" sz="1625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D</a:t>
            </a:r>
            <a:endParaRPr lang="en-US" sz="1625" dirty="0"/>
          </a:p>
        </p:txBody>
      </p:sp>
      <p:sp>
        <p:nvSpPr>
          <p:cNvPr id="17" name="Text 15"/>
          <p:cNvSpPr/>
          <p:nvPr/>
        </p:nvSpPr>
        <p:spPr>
          <a:xfrm>
            <a:off x="9121577" y="3569097"/>
            <a:ext cx="2224583" cy="264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83"/>
              </a:lnSpc>
            </a:pPr>
            <a:r>
              <a:rPr lang="en-US" sz="1292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Regulatory penalties.</a:t>
            </a:r>
            <a:endParaRPr lang="en-US" sz="1292" dirty="0"/>
          </a:p>
        </p:txBody>
      </p:sp>
      <p:sp>
        <p:nvSpPr>
          <p:cNvPr id="18" name="Shape 16"/>
          <p:cNvSpPr/>
          <p:nvPr/>
        </p:nvSpPr>
        <p:spPr>
          <a:xfrm>
            <a:off x="661492" y="4468714"/>
            <a:ext cx="10869018" cy="967283"/>
          </a:xfrm>
          <a:prstGeom prst="roundRect">
            <a:avLst>
              <a:gd name="adj" fmla="val 2565"/>
            </a:avLst>
          </a:prstGeom>
          <a:solidFill>
            <a:srgbClr val="BEF3E2"/>
          </a:solidFill>
          <a:ln/>
        </p:spPr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790" y="4721126"/>
            <a:ext cx="206673" cy="165298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198761" y="4675287"/>
            <a:ext cx="10166449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083"/>
              </a:lnSpc>
            </a:pPr>
            <a:r>
              <a:rPr lang="en-US" sz="1292" b="1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Answer: C</a:t>
            </a:r>
            <a:r>
              <a:rPr lang="en-US" sz="1292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— Liquidity risk is the inability to meet financial obligations when due, as demonstrated by Lehman's repo market collapse.</a:t>
            </a:r>
            <a:endParaRPr lang="en-US" sz="1292" dirty="0"/>
          </a:p>
        </p:txBody>
      </p:sp>
      <p:pic>
        <p:nvPicPr>
          <p:cNvPr id="22" name="Picture 21" descr="GARiME (Governance, Assurance and Risk ...">
            <a:extLst>
              <a:ext uri="{FF2B5EF4-FFF2-40B4-BE49-F238E27FC236}">
                <a16:creationId xmlns:a16="http://schemas.microsoft.com/office/drawing/2014/main" id="{CC17E201-7B2E-A3D2-8423-B11CA813AA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53767" y="129259"/>
            <a:ext cx="1505621" cy="61080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92" y="1421904"/>
            <a:ext cx="2039243" cy="323652"/>
          </a:xfrm>
          <a:prstGeom prst="roundRect">
            <a:avLst>
              <a:gd name="adj" fmla="val 6132"/>
            </a:avLst>
          </a:prstGeom>
          <a:noFill/>
          <a:ln w="7620">
            <a:solidFill>
              <a:srgbClr val="1C977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67060" y="1477864"/>
            <a:ext cx="1828106" cy="2117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667"/>
              </a:lnSpc>
            </a:pPr>
            <a:r>
              <a:rPr lang="en-US" sz="1042" dirty="0">
                <a:solidFill>
                  <a:srgbClr val="1C977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SECTION A — CONCEPTUAL</a:t>
            </a:r>
            <a:endParaRPr lang="en-US" sz="1042" dirty="0"/>
          </a:p>
        </p:txBody>
      </p:sp>
      <p:sp>
        <p:nvSpPr>
          <p:cNvPr id="4" name="Text 2"/>
          <p:cNvSpPr/>
          <p:nvPr/>
        </p:nvSpPr>
        <p:spPr>
          <a:xfrm>
            <a:off x="661492" y="1811635"/>
            <a:ext cx="5978029" cy="5167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042"/>
              </a:lnSpc>
            </a:pPr>
            <a:r>
              <a:rPr lang="en-US" sz="32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Q3. Market Risk vs. Credit Risk</a:t>
            </a:r>
            <a:endParaRPr lang="en-US" sz="3250" dirty="0"/>
          </a:p>
        </p:txBody>
      </p:sp>
      <p:sp>
        <p:nvSpPr>
          <p:cNvPr id="5" name="Text 3"/>
          <p:cNvSpPr/>
          <p:nvPr/>
        </p:nvSpPr>
        <p:spPr>
          <a:xfrm>
            <a:off x="661492" y="2576413"/>
            <a:ext cx="10869018" cy="264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83"/>
              </a:lnSpc>
            </a:pPr>
            <a:r>
              <a:rPr lang="en-US" sz="1292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Market risk differs from credit risk because:</a:t>
            </a:r>
            <a:endParaRPr lang="en-US" sz="1292" dirty="0"/>
          </a:p>
        </p:txBody>
      </p:sp>
      <p:sp>
        <p:nvSpPr>
          <p:cNvPr id="6" name="Shape 4"/>
          <p:cNvSpPr/>
          <p:nvPr/>
        </p:nvSpPr>
        <p:spPr>
          <a:xfrm>
            <a:off x="661492" y="3027065"/>
            <a:ext cx="2593281" cy="1255613"/>
          </a:xfrm>
          <a:prstGeom prst="roundRect">
            <a:avLst>
              <a:gd name="adj" fmla="val 1976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5840" y="3211413"/>
            <a:ext cx="206742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00"/>
              </a:lnSpc>
            </a:pPr>
            <a:r>
              <a:rPr lang="en-US" sz="1625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A</a:t>
            </a:r>
            <a:endParaRPr lang="en-US" sz="1625" dirty="0"/>
          </a:p>
        </p:txBody>
      </p:sp>
      <p:sp>
        <p:nvSpPr>
          <p:cNvPr id="8" name="Text 6"/>
          <p:cNvSpPr/>
          <p:nvPr/>
        </p:nvSpPr>
        <p:spPr>
          <a:xfrm>
            <a:off x="845840" y="3569097"/>
            <a:ext cx="2224583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083"/>
              </a:lnSpc>
            </a:pPr>
            <a:r>
              <a:rPr lang="en-US" sz="1292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Market risk is continuous; credit risk is event-driven.</a:t>
            </a:r>
            <a:endParaRPr lang="en-US" sz="1292" dirty="0"/>
          </a:p>
        </p:txBody>
      </p:sp>
      <p:sp>
        <p:nvSpPr>
          <p:cNvPr id="9" name="Shape 7"/>
          <p:cNvSpPr/>
          <p:nvPr/>
        </p:nvSpPr>
        <p:spPr>
          <a:xfrm>
            <a:off x="3420070" y="3027065"/>
            <a:ext cx="2593281" cy="1255613"/>
          </a:xfrm>
          <a:prstGeom prst="roundRect">
            <a:avLst>
              <a:gd name="adj" fmla="val 1976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04420" y="3211413"/>
            <a:ext cx="206742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00"/>
              </a:lnSpc>
            </a:pPr>
            <a:r>
              <a:rPr lang="en-US" sz="1625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B</a:t>
            </a:r>
            <a:endParaRPr lang="en-US" sz="1625" dirty="0"/>
          </a:p>
        </p:txBody>
      </p:sp>
      <p:sp>
        <p:nvSpPr>
          <p:cNvPr id="11" name="Text 9"/>
          <p:cNvSpPr/>
          <p:nvPr/>
        </p:nvSpPr>
        <p:spPr>
          <a:xfrm>
            <a:off x="3604419" y="3569097"/>
            <a:ext cx="2224583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083"/>
              </a:lnSpc>
            </a:pPr>
            <a:r>
              <a:rPr lang="en-US" sz="1292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Credit risk cannot be measured.</a:t>
            </a:r>
            <a:endParaRPr lang="en-US" sz="1292" dirty="0"/>
          </a:p>
        </p:txBody>
      </p:sp>
      <p:sp>
        <p:nvSpPr>
          <p:cNvPr id="12" name="Shape 10"/>
          <p:cNvSpPr/>
          <p:nvPr/>
        </p:nvSpPr>
        <p:spPr>
          <a:xfrm>
            <a:off x="6178650" y="3027065"/>
            <a:ext cx="2593281" cy="1255613"/>
          </a:xfrm>
          <a:prstGeom prst="roundRect">
            <a:avLst>
              <a:gd name="adj" fmla="val 1976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62998" y="3211413"/>
            <a:ext cx="206742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00"/>
              </a:lnSpc>
            </a:pPr>
            <a:r>
              <a:rPr lang="en-US" sz="1625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C</a:t>
            </a:r>
            <a:endParaRPr lang="en-US" sz="1625" dirty="0"/>
          </a:p>
        </p:txBody>
      </p:sp>
      <p:sp>
        <p:nvSpPr>
          <p:cNvPr id="14" name="Text 12"/>
          <p:cNvSpPr/>
          <p:nvPr/>
        </p:nvSpPr>
        <p:spPr>
          <a:xfrm>
            <a:off x="6362998" y="3569097"/>
            <a:ext cx="2224583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083"/>
              </a:lnSpc>
            </a:pPr>
            <a:r>
              <a:rPr lang="en-US" sz="1292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Market risk does not affect portfolios.</a:t>
            </a:r>
            <a:endParaRPr lang="en-US" sz="1292" dirty="0"/>
          </a:p>
        </p:txBody>
      </p:sp>
      <p:sp>
        <p:nvSpPr>
          <p:cNvPr id="15" name="Shape 13"/>
          <p:cNvSpPr/>
          <p:nvPr/>
        </p:nvSpPr>
        <p:spPr>
          <a:xfrm>
            <a:off x="8937229" y="3027065"/>
            <a:ext cx="2593281" cy="1255613"/>
          </a:xfrm>
          <a:prstGeom prst="roundRect">
            <a:avLst>
              <a:gd name="adj" fmla="val 1976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21577" y="3211413"/>
            <a:ext cx="206742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00"/>
              </a:lnSpc>
            </a:pPr>
            <a:r>
              <a:rPr lang="en-US" sz="1625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D</a:t>
            </a:r>
            <a:endParaRPr lang="en-US" sz="1625" dirty="0"/>
          </a:p>
        </p:txBody>
      </p:sp>
      <p:sp>
        <p:nvSpPr>
          <p:cNvPr id="17" name="Text 15"/>
          <p:cNvSpPr/>
          <p:nvPr/>
        </p:nvSpPr>
        <p:spPr>
          <a:xfrm>
            <a:off x="9121577" y="3569097"/>
            <a:ext cx="2224583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083"/>
              </a:lnSpc>
            </a:pPr>
            <a:r>
              <a:rPr lang="en-US" sz="1292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Credit risk only affects banks.</a:t>
            </a:r>
            <a:endParaRPr lang="en-US" sz="1292" dirty="0"/>
          </a:p>
        </p:txBody>
      </p:sp>
      <p:sp>
        <p:nvSpPr>
          <p:cNvPr id="18" name="Shape 16"/>
          <p:cNvSpPr/>
          <p:nvPr/>
        </p:nvSpPr>
        <p:spPr>
          <a:xfrm>
            <a:off x="661492" y="4468714"/>
            <a:ext cx="10869018" cy="967283"/>
          </a:xfrm>
          <a:prstGeom prst="roundRect">
            <a:avLst>
              <a:gd name="adj" fmla="val 2565"/>
            </a:avLst>
          </a:prstGeom>
          <a:solidFill>
            <a:srgbClr val="BEF3E2"/>
          </a:solidFill>
          <a:ln/>
        </p:spPr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790" y="4721126"/>
            <a:ext cx="206673" cy="165298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198761" y="4675287"/>
            <a:ext cx="10166449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083"/>
              </a:lnSpc>
            </a:pPr>
            <a:r>
              <a:rPr lang="en-US" sz="1292" b="1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Answer: A</a:t>
            </a:r>
            <a:r>
              <a:rPr lang="en-US" sz="1292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— Market risk fluctuates continuously with prices and rates, whereas credit risk is triggered by discrete events such as default or downgrade.</a:t>
            </a:r>
            <a:endParaRPr lang="en-US" sz="1292" dirty="0"/>
          </a:p>
        </p:txBody>
      </p:sp>
      <p:pic>
        <p:nvPicPr>
          <p:cNvPr id="22" name="Picture 21" descr="GARiME (Governance, Assurance and Risk ...">
            <a:extLst>
              <a:ext uri="{FF2B5EF4-FFF2-40B4-BE49-F238E27FC236}">
                <a16:creationId xmlns:a16="http://schemas.microsoft.com/office/drawing/2014/main" id="{6FC35777-AB38-FB88-B315-9D0705C33C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53767" y="129259"/>
            <a:ext cx="1505621" cy="61080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92" y="1554262"/>
            <a:ext cx="1956892" cy="323652"/>
          </a:xfrm>
          <a:prstGeom prst="roundRect">
            <a:avLst>
              <a:gd name="adj" fmla="val 6132"/>
            </a:avLst>
          </a:prstGeom>
          <a:noFill/>
          <a:ln w="7620">
            <a:solidFill>
              <a:srgbClr val="1C977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67061" y="1610221"/>
            <a:ext cx="1745754" cy="2117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667"/>
              </a:lnSpc>
            </a:pPr>
            <a:r>
              <a:rPr lang="en-US" sz="1042" dirty="0">
                <a:solidFill>
                  <a:srgbClr val="1C977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SECTION B — ANALYTICAL</a:t>
            </a:r>
            <a:endParaRPr lang="en-US" sz="1042" dirty="0"/>
          </a:p>
        </p:txBody>
      </p:sp>
      <p:sp>
        <p:nvSpPr>
          <p:cNvPr id="4" name="Text 2"/>
          <p:cNvSpPr/>
          <p:nvPr/>
        </p:nvSpPr>
        <p:spPr>
          <a:xfrm>
            <a:off x="661492" y="1943993"/>
            <a:ext cx="6658173" cy="5167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042"/>
              </a:lnSpc>
            </a:pPr>
            <a:r>
              <a:rPr lang="en-US" sz="32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Q4. Identifying the Dominant Risk</a:t>
            </a:r>
            <a:endParaRPr lang="en-US" sz="3250" dirty="0"/>
          </a:p>
        </p:txBody>
      </p:sp>
      <p:sp>
        <p:nvSpPr>
          <p:cNvPr id="5" name="Text 3"/>
          <p:cNvSpPr/>
          <p:nvPr/>
        </p:nvSpPr>
        <p:spPr>
          <a:xfrm>
            <a:off x="661492" y="2708771"/>
            <a:ext cx="10869018" cy="264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83"/>
              </a:lnSpc>
            </a:pPr>
            <a:r>
              <a:rPr lang="en-US" sz="1292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 firm has strong capital but relies heavily on short-term funding. Which risk is most significant?</a:t>
            </a:r>
            <a:endParaRPr lang="en-US" sz="1292" dirty="0"/>
          </a:p>
        </p:txBody>
      </p:sp>
      <p:sp>
        <p:nvSpPr>
          <p:cNvPr id="6" name="Shape 4"/>
          <p:cNvSpPr/>
          <p:nvPr/>
        </p:nvSpPr>
        <p:spPr>
          <a:xfrm>
            <a:off x="661492" y="3159422"/>
            <a:ext cx="2593281" cy="990997"/>
          </a:xfrm>
          <a:prstGeom prst="roundRect">
            <a:avLst>
              <a:gd name="adj" fmla="val 2503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5840" y="3343771"/>
            <a:ext cx="206742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00"/>
              </a:lnSpc>
            </a:pPr>
            <a:r>
              <a:rPr lang="en-US" sz="1625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A</a:t>
            </a:r>
            <a:endParaRPr lang="en-US" sz="1625" dirty="0"/>
          </a:p>
        </p:txBody>
      </p:sp>
      <p:sp>
        <p:nvSpPr>
          <p:cNvPr id="8" name="Text 6"/>
          <p:cNvSpPr/>
          <p:nvPr/>
        </p:nvSpPr>
        <p:spPr>
          <a:xfrm>
            <a:off x="845840" y="3701455"/>
            <a:ext cx="2224583" cy="264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83"/>
              </a:lnSpc>
            </a:pPr>
            <a:r>
              <a:rPr lang="en-US" sz="1292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Operational risk.</a:t>
            </a:r>
            <a:endParaRPr lang="en-US" sz="1292" dirty="0"/>
          </a:p>
        </p:txBody>
      </p:sp>
      <p:sp>
        <p:nvSpPr>
          <p:cNvPr id="9" name="Shape 7"/>
          <p:cNvSpPr/>
          <p:nvPr/>
        </p:nvSpPr>
        <p:spPr>
          <a:xfrm>
            <a:off x="3420070" y="3159422"/>
            <a:ext cx="2593281" cy="990997"/>
          </a:xfrm>
          <a:prstGeom prst="roundRect">
            <a:avLst>
              <a:gd name="adj" fmla="val 2503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04420" y="3343771"/>
            <a:ext cx="206742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00"/>
              </a:lnSpc>
            </a:pPr>
            <a:r>
              <a:rPr lang="en-US" sz="1625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B</a:t>
            </a:r>
            <a:endParaRPr lang="en-US" sz="1625" dirty="0"/>
          </a:p>
        </p:txBody>
      </p:sp>
      <p:sp>
        <p:nvSpPr>
          <p:cNvPr id="11" name="Text 9"/>
          <p:cNvSpPr/>
          <p:nvPr/>
        </p:nvSpPr>
        <p:spPr>
          <a:xfrm>
            <a:off x="3604419" y="3701455"/>
            <a:ext cx="2224583" cy="264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83"/>
              </a:lnSpc>
            </a:pPr>
            <a:r>
              <a:rPr lang="en-US" sz="1292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Liquidity risk.</a:t>
            </a:r>
            <a:endParaRPr lang="en-US" sz="1292" dirty="0"/>
          </a:p>
        </p:txBody>
      </p:sp>
      <p:sp>
        <p:nvSpPr>
          <p:cNvPr id="12" name="Shape 10"/>
          <p:cNvSpPr/>
          <p:nvPr/>
        </p:nvSpPr>
        <p:spPr>
          <a:xfrm>
            <a:off x="6178650" y="3159422"/>
            <a:ext cx="2593281" cy="990997"/>
          </a:xfrm>
          <a:prstGeom prst="roundRect">
            <a:avLst>
              <a:gd name="adj" fmla="val 2503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62998" y="3343771"/>
            <a:ext cx="206742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00"/>
              </a:lnSpc>
            </a:pPr>
            <a:r>
              <a:rPr lang="en-US" sz="1625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C</a:t>
            </a:r>
            <a:endParaRPr lang="en-US" sz="1625" dirty="0"/>
          </a:p>
        </p:txBody>
      </p:sp>
      <p:sp>
        <p:nvSpPr>
          <p:cNvPr id="14" name="Text 12"/>
          <p:cNvSpPr/>
          <p:nvPr/>
        </p:nvSpPr>
        <p:spPr>
          <a:xfrm>
            <a:off x="6362998" y="3701455"/>
            <a:ext cx="2224583" cy="264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83"/>
              </a:lnSpc>
            </a:pPr>
            <a:r>
              <a:rPr lang="en-US" sz="1292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Market risk.</a:t>
            </a:r>
            <a:endParaRPr lang="en-US" sz="1292" dirty="0"/>
          </a:p>
        </p:txBody>
      </p:sp>
      <p:sp>
        <p:nvSpPr>
          <p:cNvPr id="15" name="Shape 13"/>
          <p:cNvSpPr/>
          <p:nvPr/>
        </p:nvSpPr>
        <p:spPr>
          <a:xfrm>
            <a:off x="8937229" y="3159422"/>
            <a:ext cx="2593281" cy="990997"/>
          </a:xfrm>
          <a:prstGeom prst="roundRect">
            <a:avLst>
              <a:gd name="adj" fmla="val 2503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21577" y="3343771"/>
            <a:ext cx="206742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00"/>
              </a:lnSpc>
            </a:pPr>
            <a:r>
              <a:rPr lang="en-US" sz="1625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D</a:t>
            </a:r>
            <a:endParaRPr lang="en-US" sz="1625" dirty="0"/>
          </a:p>
        </p:txBody>
      </p:sp>
      <p:sp>
        <p:nvSpPr>
          <p:cNvPr id="17" name="Text 15"/>
          <p:cNvSpPr/>
          <p:nvPr/>
        </p:nvSpPr>
        <p:spPr>
          <a:xfrm>
            <a:off x="9121577" y="3701455"/>
            <a:ext cx="2224583" cy="264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83"/>
              </a:lnSpc>
            </a:pPr>
            <a:r>
              <a:rPr lang="en-US" sz="1292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Legal risk.</a:t>
            </a:r>
            <a:endParaRPr lang="en-US" sz="1292" dirty="0"/>
          </a:p>
        </p:txBody>
      </p:sp>
      <p:sp>
        <p:nvSpPr>
          <p:cNvPr id="18" name="Shape 16"/>
          <p:cNvSpPr/>
          <p:nvPr/>
        </p:nvSpPr>
        <p:spPr>
          <a:xfrm>
            <a:off x="661492" y="4336455"/>
            <a:ext cx="10869018" cy="967283"/>
          </a:xfrm>
          <a:prstGeom prst="roundRect">
            <a:avLst>
              <a:gd name="adj" fmla="val 2565"/>
            </a:avLst>
          </a:prstGeom>
          <a:solidFill>
            <a:srgbClr val="BEF3E2"/>
          </a:solidFill>
          <a:ln/>
        </p:spPr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790" y="4588868"/>
            <a:ext cx="206673" cy="165298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198761" y="4543029"/>
            <a:ext cx="10166449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083"/>
              </a:lnSpc>
            </a:pPr>
            <a:r>
              <a:rPr lang="en-US" sz="1292" b="1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Answer: B</a:t>
            </a:r>
            <a:r>
              <a:rPr lang="en-US" sz="1292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— Even with strong capital, heavy reliance on short-term funding creates acute liquidity risk. This mirrors Lehman's own structural vulnerability.</a:t>
            </a:r>
            <a:endParaRPr lang="en-US" sz="1292" dirty="0"/>
          </a:p>
        </p:txBody>
      </p:sp>
      <p:pic>
        <p:nvPicPr>
          <p:cNvPr id="22" name="Picture 21" descr="GARiME (Governance, Assurance and Risk ...">
            <a:extLst>
              <a:ext uri="{FF2B5EF4-FFF2-40B4-BE49-F238E27FC236}">
                <a16:creationId xmlns:a16="http://schemas.microsoft.com/office/drawing/2014/main" id="{2E8650B2-1F1E-0F57-A0C3-1FF4FD7C67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53767" y="129259"/>
            <a:ext cx="1505621" cy="61080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92" y="1289645"/>
            <a:ext cx="1956892" cy="323652"/>
          </a:xfrm>
          <a:prstGeom prst="roundRect">
            <a:avLst>
              <a:gd name="adj" fmla="val 6132"/>
            </a:avLst>
          </a:prstGeom>
          <a:noFill/>
          <a:ln w="7620">
            <a:solidFill>
              <a:srgbClr val="1C977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67061" y="1345605"/>
            <a:ext cx="1745754" cy="2117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667"/>
              </a:lnSpc>
            </a:pPr>
            <a:r>
              <a:rPr lang="en-US" sz="1042" dirty="0">
                <a:solidFill>
                  <a:srgbClr val="1C977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SECTION B — ANALYTICAL</a:t>
            </a:r>
            <a:endParaRPr lang="en-US" sz="1042" dirty="0"/>
          </a:p>
        </p:txBody>
      </p:sp>
      <p:sp>
        <p:nvSpPr>
          <p:cNvPr id="4" name="Text 2"/>
          <p:cNvSpPr/>
          <p:nvPr/>
        </p:nvSpPr>
        <p:spPr>
          <a:xfrm>
            <a:off x="661492" y="1679377"/>
            <a:ext cx="5701010" cy="5167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042"/>
              </a:lnSpc>
            </a:pPr>
            <a:r>
              <a:rPr lang="en-US" sz="32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Q5. Lehman's Primary Failure</a:t>
            </a:r>
            <a:endParaRPr lang="en-US" sz="3250" dirty="0"/>
          </a:p>
        </p:txBody>
      </p:sp>
      <p:sp>
        <p:nvSpPr>
          <p:cNvPr id="5" name="Text 3"/>
          <p:cNvSpPr/>
          <p:nvPr/>
        </p:nvSpPr>
        <p:spPr>
          <a:xfrm>
            <a:off x="661492" y="2444155"/>
            <a:ext cx="10869018" cy="264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83"/>
              </a:lnSpc>
            </a:pPr>
            <a:r>
              <a:rPr lang="en-US" sz="1292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Which failure contributed most directly to Lehman's collapse?</a:t>
            </a:r>
            <a:endParaRPr lang="en-US" sz="1292" dirty="0"/>
          </a:p>
        </p:txBody>
      </p:sp>
      <p:sp>
        <p:nvSpPr>
          <p:cNvPr id="6" name="Shape 4"/>
          <p:cNvSpPr/>
          <p:nvPr/>
        </p:nvSpPr>
        <p:spPr>
          <a:xfrm>
            <a:off x="661492" y="2894806"/>
            <a:ext cx="2593281" cy="1520230"/>
          </a:xfrm>
          <a:prstGeom prst="roundRect">
            <a:avLst>
              <a:gd name="adj" fmla="val 1632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5840" y="3079155"/>
            <a:ext cx="206742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00"/>
              </a:lnSpc>
            </a:pPr>
            <a:r>
              <a:rPr lang="en-US" sz="1625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A</a:t>
            </a:r>
            <a:endParaRPr lang="en-US" sz="1625" dirty="0"/>
          </a:p>
        </p:txBody>
      </p:sp>
      <p:sp>
        <p:nvSpPr>
          <p:cNvPr id="8" name="Text 6"/>
          <p:cNvSpPr/>
          <p:nvPr/>
        </p:nvSpPr>
        <p:spPr>
          <a:xfrm>
            <a:off x="845840" y="3436838"/>
            <a:ext cx="2224583" cy="264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83"/>
              </a:lnSpc>
            </a:pPr>
            <a:r>
              <a:rPr lang="en-US" sz="1292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Absence of profit.</a:t>
            </a:r>
            <a:endParaRPr lang="en-US" sz="1292" dirty="0"/>
          </a:p>
        </p:txBody>
      </p:sp>
      <p:sp>
        <p:nvSpPr>
          <p:cNvPr id="9" name="Shape 7"/>
          <p:cNvSpPr/>
          <p:nvPr/>
        </p:nvSpPr>
        <p:spPr>
          <a:xfrm>
            <a:off x="3420070" y="2894806"/>
            <a:ext cx="2593281" cy="1520230"/>
          </a:xfrm>
          <a:prstGeom prst="roundRect">
            <a:avLst>
              <a:gd name="adj" fmla="val 1632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04420" y="3079155"/>
            <a:ext cx="206742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00"/>
              </a:lnSpc>
            </a:pPr>
            <a:r>
              <a:rPr lang="en-US" sz="1625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B</a:t>
            </a:r>
            <a:endParaRPr lang="en-US" sz="1625" dirty="0"/>
          </a:p>
        </p:txBody>
      </p:sp>
      <p:sp>
        <p:nvSpPr>
          <p:cNvPr id="11" name="Text 9"/>
          <p:cNvSpPr/>
          <p:nvPr/>
        </p:nvSpPr>
        <p:spPr>
          <a:xfrm>
            <a:off x="3604419" y="3436839"/>
            <a:ext cx="2224583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083"/>
              </a:lnSpc>
            </a:pPr>
            <a:r>
              <a:rPr lang="en-US" sz="1292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Excessive leverage combined with liquidity stress.</a:t>
            </a:r>
            <a:endParaRPr lang="en-US" sz="1292" dirty="0"/>
          </a:p>
        </p:txBody>
      </p:sp>
      <p:sp>
        <p:nvSpPr>
          <p:cNvPr id="12" name="Shape 10"/>
          <p:cNvSpPr/>
          <p:nvPr/>
        </p:nvSpPr>
        <p:spPr>
          <a:xfrm>
            <a:off x="6178650" y="2894806"/>
            <a:ext cx="2593281" cy="1520230"/>
          </a:xfrm>
          <a:prstGeom prst="roundRect">
            <a:avLst>
              <a:gd name="adj" fmla="val 1632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62998" y="3079155"/>
            <a:ext cx="206742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00"/>
              </a:lnSpc>
            </a:pPr>
            <a:r>
              <a:rPr lang="en-US" sz="1625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C</a:t>
            </a:r>
            <a:endParaRPr lang="en-US" sz="1625" dirty="0"/>
          </a:p>
        </p:txBody>
      </p:sp>
      <p:sp>
        <p:nvSpPr>
          <p:cNvPr id="14" name="Text 12"/>
          <p:cNvSpPr/>
          <p:nvPr/>
        </p:nvSpPr>
        <p:spPr>
          <a:xfrm>
            <a:off x="6362998" y="3436838"/>
            <a:ext cx="2224583" cy="264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83"/>
              </a:lnSpc>
            </a:pPr>
            <a:r>
              <a:rPr lang="en-US" sz="1292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Regulatory fines.</a:t>
            </a:r>
            <a:endParaRPr lang="en-US" sz="1292" dirty="0"/>
          </a:p>
        </p:txBody>
      </p:sp>
      <p:sp>
        <p:nvSpPr>
          <p:cNvPr id="15" name="Shape 13"/>
          <p:cNvSpPr/>
          <p:nvPr/>
        </p:nvSpPr>
        <p:spPr>
          <a:xfrm>
            <a:off x="8937229" y="2894806"/>
            <a:ext cx="2593281" cy="1520230"/>
          </a:xfrm>
          <a:prstGeom prst="roundRect">
            <a:avLst>
              <a:gd name="adj" fmla="val 1632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21577" y="3079155"/>
            <a:ext cx="206742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00"/>
              </a:lnSpc>
            </a:pPr>
            <a:r>
              <a:rPr lang="en-US" sz="1625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D</a:t>
            </a:r>
            <a:endParaRPr lang="en-US" sz="1625" dirty="0"/>
          </a:p>
        </p:txBody>
      </p:sp>
      <p:sp>
        <p:nvSpPr>
          <p:cNvPr id="17" name="Text 15"/>
          <p:cNvSpPr/>
          <p:nvPr/>
        </p:nvSpPr>
        <p:spPr>
          <a:xfrm>
            <a:off x="9121577" y="3436838"/>
            <a:ext cx="2224583" cy="264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83"/>
              </a:lnSpc>
            </a:pPr>
            <a:r>
              <a:rPr lang="en-US" sz="1292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Technology breakdown.</a:t>
            </a:r>
            <a:endParaRPr lang="en-US" sz="1292" dirty="0"/>
          </a:p>
        </p:txBody>
      </p:sp>
      <p:sp>
        <p:nvSpPr>
          <p:cNvPr id="18" name="Shape 16"/>
          <p:cNvSpPr/>
          <p:nvPr/>
        </p:nvSpPr>
        <p:spPr>
          <a:xfrm>
            <a:off x="661492" y="4601071"/>
            <a:ext cx="10869018" cy="967283"/>
          </a:xfrm>
          <a:prstGeom prst="roundRect">
            <a:avLst>
              <a:gd name="adj" fmla="val 2565"/>
            </a:avLst>
          </a:prstGeom>
          <a:solidFill>
            <a:srgbClr val="BEF3E2"/>
          </a:solidFill>
          <a:ln/>
        </p:spPr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790" y="4853484"/>
            <a:ext cx="206673" cy="165298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198761" y="4807644"/>
            <a:ext cx="10166449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083"/>
              </a:lnSpc>
            </a:pPr>
            <a:r>
              <a:rPr lang="en-US" sz="1292" b="1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Answer: B</a:t>
            </a:r>
            <a:r>
              <a:rPr lang="en-US" sz="1292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— Excessive leverage (30:1) combined with acute liquidity stress when short-term funding was withdrawn was the direct cause of Lehman's bankruptcy.</a:t>
            </a:r>
            <a:endParaRPr lang="en-US" sz="1292" dirty="0"/>
          </a:p>
        </p:txBody>
      </p:sp>
      <p:pic>
        <p:nvPicPr>
          <p:cNvPr id="22" name="Picture 21" descr="GARiME (Governance, Assurance and Risk ...">
            <a:extLst>
              <a:ext uri="{FF2B5EF4-FFF2-40B4-BE49-F238E27FC236}">
                <a16:creationId xmlns:a16="http://schemas.microsoft.com/office/drawing/2014/main" id="{D48FB3E2-62FE-68A9-8C9C-0EC79404D6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53767" y="129259"/>
            <a:ext cx="1505621" cy="61080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92" y="1554262"/>
            <a:ext cx="2006798" cy="323652"/>
          </a:xfrm>
          <a:prstGeom prst="roundRect">
            <a:avLst>
              <a:gd name="adj" fmla="val 6132"/>
            </a:avLst>
          </a:prstGeom>
          <a:noFill/>
          <a:ln w="7620">
            <a:solidFill>
              <a:srgbClr val="1C977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67060" y="1610221"/>
            <a:ext cx="1795661" cy="2117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667"/>
              </a:lnSpc>
            </a:pPr>
            <a:r>
              <a:rPr lang="en-US" sz="1042" dirty="0">
                <a:solidFill>
                  <a:srgbClr val="1C977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SECTION C — APPLICATION</a:t>
            </a:r>
            <a:endParaRPr lang="en-US" sz="1042" dirty="0"/>
          </a:p>
        </p:txBody>
      </p:sp>
      <p:sp>
        <p:nvSpPr>
          <p:cNvPr id="4" name="Text 2"/>
          <p:cNvSpPr/>
          <p:nvPr/>
        </p:nvSpPr>
        <p:spPr>
          <a:xfrm>
            <a:off x="661492" y="1943993"/>
            <a:ext cx="5185469" cy="5167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042"/>
              </a:lnSpc>
            </a:pPr>
            <a:r>
              <a:rPr lang="en-US" sz="32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Q6. Classifying Cyber Risk</a:t>
            </a:r>
            <a:endParaRPr lang="en-US" sz="3250" dirty="0"/>
          </a:p>
        </p:txBody>
      </p:sp>
      <p:sp>
        <p:nvSpPr>
          <p:cNvPr id="5" name="Text 3"/>
          <p:cNvSpPr/>
          <p:nvPr/>
        </p:nvSpPr>
        <p:spPr>
          <a:xfrm>
            <a:off x="661492" y="2708771"/>
            <a:ext cx="10869018" cy="264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83"/>
              </a:lnSpc>
            </a:pPr>
            <a:r>
              <a:rPr lang="en-US" sz="1292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 cyber attack that disrupts transaction systems is classified as:</a:t>
            </a:r>
            <a:endParaRPr lang="en-US" sz="1292" dirty="0"/>
          </a:p>
        </p:txBody>
      </p:sp>
      <p:sp>
        <p:nvSpPr>
          <p:cNvPr id="6" name="Shape 4"/>
          <p:cNvSpPr/>
          <p:nvPr/>
        </p:nvSpPr>
        <p:spPr>
          <a:xfrm>
            <a:off x="661492" y="3159422"/>
            <a:ext cx="2593281" cy="990997"/>
          </a:xfrm>
          <a:prstGeom prst="roundRect">
            <a:avLst>
              <a:gd name="adj" fmla="val 2503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5840" y="3343771"/>
            <a:ext cx="206742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00"/>
              </a:lnSpc>
            </a:pPr>
            <a:r>
              <a:rPr lang="en-US" sz="1625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A</a:t>
            </a:r>
            <a:endParaRPr lang="en-US" sz="1625" dirty="0"/>
          </a:p>
        </p:txBody>
      </p:sp>
      <p:sp>
        <p:nvSpPr>
          <p:cNvPr id="8" name="Text 6"/>
          <p:cNvSpPr/>
          <p:nvPr/>
        </p:nvSpPr>
        <p:spPr>
          <a:xfrm>
            <a:off x="845840" y="3701455"/>
            <a:ext cx="2224583" cy="264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83"/>
              </a:lnSpc>
            </a:pPr>
            <a:r>
              <a:rPr lang="en-US" sz="1292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Market risk.</a:t>
            </a:r>
            <a:endParaRPr lang="en-US" sz="1292" dirty="0"/>
          </a:p>
        </p:txBody>
      </p:sp>
      <p:sp>
        <p:nvSpPr>
          <p:cNvPr id="9" name="Shape 7"/>
          <p:cNvSpPr/>
          <p:nvPr/>
        </p:nvSpPr>
        <p:spPr>
          <a:xfrm>
            <a:off x="3420070" y="3159422"/>
            <a:ext cx="2593281" cy="990997"/>
          </a:xfrm>
          <a:prstGeom prst="roundRect">
            <a:avLst>
              <a:gd name="adj" fmla="val 2503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04420" y="3343771"/>
            <a:ext cx="206742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00"/>
              </a:lnSpc>
            </a:pPr>
            <a:r>
              <a:rPr lang="en-US" sz="1625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B</a:t>
            </a:r>
            <a:endParaRPr lang="en-US" sz="1625" dirty="0"/>
          </a:p>
        </p:txBody>
      </p:sp>
      <p:sp>
        <p:nvSpPr>
          <p:cNvPr id="11" name="Text 9"/>
          <p:cNvSpPr/>
          <p:nvPr/>
        </p:nvSpPr>
        <p:spPr>
          <a:xfrm>
            <a:off x="3604419" y="3701455"/>
            <a:ext cx="2224583" cy="264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83"/>
              </a:lnSpc>
            </a:pPr>
            <a:r>
              <a:rPr lang="en-US" sz="1292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Credit risk.</a:t>
            </a:r>
            <a:endParaRPr lang="en-US" sz="1292" dirty="0"/>
          </a:p>
        </p:txBody>
      </p:sp>
      <p:sp>
        <p:nvSpPr>
          <p:cNvPr id="12" name="Shape 10"/>
          <p:cNvSpPr/>
          <p:nvPr/>
        </p:nvSpPr>
        <p:spPr>
          <a:xfrm>
            <a:off x="6178650" y="3159422"/>
            <a:ext cx="2593281" cy="990997"/>
          </a:xfrm>
          <a:prstGeom prst="roundRect">
            <a:avLst>
              <a:gd name="adj" fmla="val 2503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62998" y="3343771"/>
            <a:ext cx="206742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00"/>
              </a:lnSpc>
            </a:pPr>
            <a:r>
              <a:rPr lang="en-US" sz="1625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C</a:t>
            </a:r>
            <a:endParaRPr lang="en-US" sz="1625" dirty="0"/>
          </a:p>
        </p:txBody>
      </p:sp>
      <p:sp>
        <p:nvSpPr>
          <p:cNvPr id="14" name="Text 12"/>
          <p:cNvSpPr/>
          <p:nvPr/>
        </p:nvSpPr>
        <p:spPr>
          <a:xfrm>
            <a:off x="6362998" y="3701455"/>
            <a:ext cx="2224583" cy="264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83"/>
              </a:lnSpc>
            </a:pPr>
            <a:r>
              <a:rPr lang="en-US" sz="1292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Liquidity risk.</a:t>
            </a:r>
            <a:endParaRPr lang="en-US" sz="1292" dirty="0"/>
          </a:p>
        </p:txBody>
      </p:sp>
      <p:sp>
        <p:nvSpPr>
          <p:cNvPr id="15" name="Shape 13"/>
          <p:cNvSpPr/>
          <p:nvPr/>
        </p:nvSpPr>
        <p:spPr>
          <a:xfrm>
            <a:off x="8937229" y="3159422"/>
            <a:ext cx="2593281" cy="990997"/>
          </a:xfrm>
          <a:prstGeom prst="roundRect">
            <a:avLst>
              <a:gd name="adj" fmla="val 2503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21577" y="3343771"/>
            <a:ext cx="206742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00"/>
              </a:lnSpc>
            </a:pPr>
            <a:r>
              <a:rPr lang="en-US" sz="1625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D</a:t>
            </a:r>
            <a:endParaRPr lang="en-US" sz="1625" dirty="0"/>
          </a:p>
        </p:txBody>
      </p:sp>
      <p:sp>
        <p:nvSpPr>
          <p:cNvPr id="17" name="Text 15"/>
          <p:cNvSpPr/>
          <p:nvPr/>
        </p:nvSpPr>
        <p:spPr>
          <a:xfrm>
            <a:off x="9121577" y="3701455"/>
            <a:ext cx="2224583" cy="264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83"/>
              </a:lnSpc>
            </a:pPr>
            <a:r>
              <a:rPr lang="en-US" sz="1292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Operational risk.</a:t>
            </a:r>
            <a:endParaRPr lang="en-US" sz="1292" dirty="0"/>
          </a:p>
        </p:txBody>
      </p:sp>
      <p:sp>
        <p:nvSpPr>
          <p:cNvPr id="18" name="Shape 16"/>
          <p:cNvSpPr/>
          <p:nvPr/>
        </p:nvSpPr>
        <p:spPr>
          <a:xfrm>
            <a:off x="661492" y="4336455"/>
            <a:ext cx="10869018" cy="967283"/>
          </a:xfrm>
          <a:prstGeom prst="roundRect">
            <a:avLst>
              <a:gd name="adj" fmla="val 2565"/>
            </a:avLst>
          </a:prstGeom>
          <a:solidFill>
            <a:srgbClr val="BEF3E2"/>
          </a:solidFill>
          <a:ln/>
        </p:spPr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790" y="4588868"/>
            <a:ext cx="206673" cy="165298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198761" y="4543029"/>
            <a:ext cx="10166449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083"/>
              </a:lnSpc>
            </a:pPr>
            <a:r>
              <a:rPr lang="en-US" sz="1292" b="1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Answer: D</a:t>
            </a:r>
            <a:r>
              <a:rPr lang="en-US" sz="1292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— Cyber attacks fall under operational risk, which covers losses from failed internal processes, systems, or external events.</a:t>
            </a:r>
            <a:endParaRPr lang="en-US" sz="1292" dirty="0"/>
          </a:p>
        </p:txBody>
      </p:sp>
      <p:pic>
        <p:nvPicPr>
          <p:cNvPr id="22" name="Picture 21" descr="GARiME (Governance, Assurance and Risk ...">
            <a:extLst>
              <a:ext uri="{FF2B5EF4-FFF2-40B4-BE49-F238E27FC236}">
                <a16:creationId xmlns:a16="http://schemas.microsoft.com/office/drawing/2014/main" id="{5D07AF5D-270F-6668-F502-201B091128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53767" y="129259"/>
            <a:ext cx="1505621" cy="61080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92" y="1554262"/>
            <a:ext cx="2006798" cy="323652"/>
          </a:xfrm>
          <a:prstGeom prst="roundRect">
            <a:avLst>
              <a:gd name="adj" fmla="val 6132"/>
            </a:avLst>
          </a:prstGeom>
          <a:noFill/>
          <a:ln w="7620">
            <a:solidFill>
              <a:srgbClr val="1C977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67060" y="1610221"/>
            <a:ext cx="1795661" cy="2117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667"/>
              </a:lnSpc>
            </a:pPr>
            <a:r>
              <a:rPr lang="en-US" sz="1042" dirty="0">
                <a:solidFill>
                  <a:srgbClr val="1C977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SECTION C — APPLICATION</a:t>
            </a:r>
            <a:endParaRPr lang="en-US" sz="1042" dirty="0"/>
          </a:p>
        </p:txBody>
      </p:sp>
      <p:sp>
        <p:nvSpPr>
          <p:cNvPr id="4" name="Text 2"/>
          <p:cNvSpPr/>
          <p:nvPr/>
        </p:nvSpPr>
        <p:spPr>
          <a:xfrm>
            <a:off x="661492" y="1943993"/>
            <a:ext cx="4739382" cy="5167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042"/>
              </a:lnSpc>
            </a:pPr>
            <a:r>
              <a:rPr lang="en-US" sz="32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Q7. Risk or Uncertainty?</a:t>
            </a:r>
            <a:endParaRPr lang="en-US" sz="3250" dirty="0"/>
          </a:p>
        </p:txBody>
      </p:sp>
      <p:sp>
        <p:nvSpPr>
          <p:cNvPr id="5" name="Text 3"/>
          <p:cNvSpPr/>
          <p:nvPr/>
        </p:nvSpPr>
        <p:spPr>
          <a:xfrm>
            <a:off x="661492" y="2708771"/>
            <a:ext cx="10869018" cy="264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83"/>
              </a:lnSpc>
            </a:pPr>
            <a:r>
              <a:rPr lang="en-US" sz="1292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If a firm cannot assign probabilities to a new geopolitical event, this represents:</a:t>
            </a:r>
            <a:endParaRPr lang="en-US" sz="1292" dirty="0"/>
          </a:p>
        </p:txBody>
      </p:sp>
      <p:sp>
        <p:nvSpPr>
          <p:cNvPr id="6" name="Shape 4"/>
          <p:cNvSpPr/>
          <p:nvPr/>
        </p:nvSpPr>
        <p:spPr>
          <a:xfrm>
            <a:off x="661492" y="3159422"/>
            <a:ext cx="2593281" cy="990997"/>
          </a:xfrm>
          <a:prstGeom prst="roundRect">
            <a:avLst>
              <a:gd name="adj" fmla="val 2503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5840" y="3343771"/>
            <a:ext cx="206742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00"/>
              </a:lnSpc>
            </a:pPr>
            <a:r>
              <a:rPr lang="en-US" sz="1625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A</a:t>
            </a:r>
            <a:endParaRPr lang="en-US" sz="1625" dirty="0"/>
          </a:p>
        </p:txBody>
      </p:sp>
      <p:sp>
        <p:nvSpPr>
          <p:cNvPr id="8" name="Text 6"/>
          <p:cNvSpPr/>
          <p:nvPr/>
        </p:nvSpPr>
        <p:spPr>
          <a:xfrm>
            <a:off x="845840" y="3701455"/>
            <a:ext cx="2224583" cy="264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83"/>
              </a:lnSpc>
            </a:pPr>
            <a:r>
              <a:rPr lang="en-US" sz="1292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Measurable risk.</a:t>
            </a:r>
            <a:endParaRPr lang="en-US" sz="1292" dirty="0"/>
          </a:p>
        </p:txBody>
      </p:sp>
      <p:sp>
        <p:nvSpPr>
          <p:cNvPr id="9" name="Shape 7"/>
          <p:cNvSpPr/>
          <p:nvPr/>
        </p:nvSpPr>
        <p:spPr>
          <a:xfrm>
            <a:off x="3420070" y="3159422"/>
            <a:ext cx="2593281" cy="990997"/>
          </a:xfrm>
          <a:prstGeom prst="roundRect">
            <a:avLst>
              <a:gd name="adj" fmla="val 2503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04420" y="3343771"/>
            <a:ext cx="206742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00"/>
              </a:lnSpc>
            </a:pPr>
            <a:r>
              <a:rPr lang="en-US" sz="1625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B</a:t>
            </a:r>
            <a:endParaRPr lang="en-US" sz="1625" dirty="0"/>
          </a:p>
        </p:txBody>
      </p:sp>
      <p:sp>
        <p:nvSpPr>
          <p:cNvPr id="11" name="Text 9"/>
          <p:cNvSpPr/>
          <p:nvPr/>
        </p:nvSpPr>
        <p:spPr>
          <a:xfrm>
            <a:off x="3604419" y="3701455"/>
            <a:ext cx="2224583" cy="264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83"/>
              </a:lnSpc>
            </a:pPr>
            <a:r>
              <a:rPr lang="en-US" sz="1292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Diversifiable risk.</a:t>
            </a:r>
            <a:endParaRPr lang="en-US" sz="1292" dirty="0"/>
          </a:p>
        </p:txBody>
      </p:sp>
      <p:sp>
        <p:nvSpPr>
          <p:cNvPr id="12" name="Shape 10"/>
          <p:cNvSpPr/>
          <p:nvPr/>
        </p:nvSpPr>
        <p:spPr>
          <a:xfrm>
            <a:off x="6178650" y="3159422"/>
            <a:ext cx="2593281" cy="990997"/>
          </a:xfrm>
          <a:prstGeom prst="roundRect">
            <a:avLst>
              <a:gd name="adj" fmla="val 2503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62998" y="3343771"/>
            <a:ext cx="206742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00"/>
              </a:lnSpc>
            </a:pPr>
            <a:r>
              <a:rPr lang="en-US" sz="1625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C</a:t>
            </a:r>
            <a:endParaRPr lang="en-US" sz="1625" dirty="0"/>
          </a:p>
        </p:txBody>
      </p:sp>
      <p:sp>
        <p:nvSpPr>
          <p:cNvPr id="14" name="Text 12"/>
          <p:cNvSpPr/>
          <p:nvPr/>
        </p:nvSpPr>
        <p:spPr>
          <a:xfrm>
            <a:off x="6362998" y="3701455"/>
            <a:ext cx="2224583" cy="264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83"/>
              </a:lnSpc>
            </a:pPr>
            <a:r>
              <a:rPr lang="en-US" sz="1292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Uncertainty.</a:t>
            </a:r>
            <a:endParaRPr lang="en-US" sz="1292" dirty="0"/>
          </a:p>
        </p:txBody>
      </p:sp>
      <p:sp>
        <p:nvSpPr>
          <p:cNvPr id="15" name="Shape 13"/>
          <p:cNvSpPr/>
          <p:nvPr/>
        </p:nvSpPr>
        <p:spPr>
          <a:xfrm>
            <a:off x="8937229" y="3159422"/>
            <a:ext cx="2593281" cy="990997"/>
          </a:xfrm>
          <a:prstGeom prst="roundRect">
            <a:avLst>
              <a:gd name="adj" fmla="val 2503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21577" y="3343771"/>
            <a:ext cx="206742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00"/>
              </a:lnSpc>
            </a:pPr>
            <a:r>
              <a:rPr lang="en-US" sz="1625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D</a:t>
            </a:r>
            <a:endParaRPr lang="en-US" sz="1625" dirty="0"/>
          </a:p>
        </p:txBody>
      </p:sp>
      <p:sp>
        <p:nvSpPr>
          <p:cNvPr id="17" name="Text 15"/>
          <p:cNvSpPr/>
          <p:nvPr/>
        </p:nvSpPr>
        <p:spPr>
          <a:xfrm>
            <a:off x="9121577" y="3701455"/>
            <a:ext cx="2224583" cy="264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83"/>
              </a:lnSpc>
            </a:pPr>
            <a:r>
              <a:rPr lang="en-US" sz="1292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Hedged exposure.</a:t>
            </a:r>
            <a:endParaRPr lang="en-US" sz="1292" dirty="0"/>
          </a:p>
        </p:txBody>
      </p:sp>
      <p:sp>
        <p:nvSpPr>
          <p:cNvPr id="18" name="Shape 16"/>
          <p:cNvSpPr/>
          <p:nvPr/>
        </p:nvSpPr>
        <p:spPr>
          <a:xfrm>
            <a:off x="661492" y="4336455"/>
            <a:ext cx="10869018" cy="967283"/>
          </a:xfrm>
          <a:prstGeom prst="roundRect">
            <a:avLst>
              <a:gd name="adj" fmla="val 2565"/>
            </a:avLst>
          </a:prstGeom>
          <a:solidFill>
            <a:srgbClr val="BEF3E2"/>
          </a:solidFill>
          <a:ln/>
        </p:spPr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790" y="4588868"/>
            <a:ext cx="206673" cy="165298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198761" y="4543029"/>
            <a:ext cx="10166449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083"/>
              </a:lnSpc>
            </a:pPr>
            <a:r>
              <a:rPr lang="en-US" sz="1292" b="1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Answer: C</a:t>
            </a:r>
            <a:r>
              <a:rPr lang="en-US" sz="1292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— When probabilities cannot be assigned, the situation represents uncertainty rather than measurable risk — a key distinction in Financial Risk Management.</a:t>
            </a:r>
            <a:endParaRPr lang="en-US" sz="1292" dirty="0"/>
          </a:p>
        </p:txBody>
      </p:sp>
      <p:pic>
        <p:nvPicPr>
          <p:cNvPr id="22" name="Picture 21" descr="GARiME (Governance, Assurance and Risk ...">
            <a:extLst>
              <a:ext uri="{FF2B5EF4-FFF2-40B4-BE49-F238E27FC236}">
                <a16:creationId xmlns:a16="http://schemas.microsoft.com/office/drawing/2014/main" id="{52FB9477-04DE-18BC-B7B9-92D903525E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53767" y="129259"/>
            <a:ext cx="1505621" cy="61080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0" y="0"/>
            <a:ext cx="457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92" y="662980"/>
            <a:ext cx="4134843" cy="5167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042"/>
              </a:lnSpc>
            </a:pPr>
            <a:r>
              <a:rPr lang="en-US" sz="32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Key Takeaways</a:t>
            </a:r>
            <a:endParaRPr lang="en-US" sz="3250" dirty="0"/>
          </a:p>
        </p:txBody>
      </p:sp>
      <p:sp>
        <p:nvSpPr>
          <p:cNvPr id="4" name="Shape 1"/>
          <p:cNvSpPr/>
          <p:nvPr/>
        </p:nvSpPr>
        <p:spPr>
          <a:xfrm>
            <a:off x="661492" y="1427758"/>
            <a:ext cx="372070" cy="372070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5" name="Text 2"/>
          <p:cNvSpPr/>
          <p:nvPr/>
        </p:nvSpPr>
        <p:spPr>
          <a:xfrm>
            <a:off x="1198860" y="1484610"/>
            <a:ext cx="206742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00"/>
              </a:lnSpc>
            </a:pPr>
            <a:r>
              <a:rPr lang="en-US" sz="1625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Risk Exists in Layers</a:t>
            </a:r>
            <a:endParaRPr lang="en-US" sz="1625" dirty="0"/>
          </a:p>
        </p:txBody>
      </p:sp>
      <p:sp>
        <p:nvSpPr>
          <p:cNvPr id="6" name="Text 3"/>
          <p:cNvSpPr/>
          <p:nvPr/>
        </p:nvSpPr>
        <p:spPr>
          <a:xfrm>
            <a:off x="1198860" y="1842294"/>
            <a:ext cx="5759648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083"/>
              </a:lnSpc>
            </a:pPr>
            <a:r>
              <a:rPr lang="en-US" sz="1292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Market, liquidity, and governance risks interact — no single risk type operates in isolation.</a:t>
            </a:r>
            <a:endParaRPr lang="en-US" sz="1292" dirty="0"/>
          </a:p>
        </p:txBody>
      </p:sp>
      <p:sp>
        <p:nvSpPr>
          <p:cNvPr id="7" name="Shape 4"/>
          <p:cNvSpPr/>
          <p:nvPr/>
        </p:nvSpPr>
        <p:spPr>
          <a:xfrm>
            <a:off x="661492" y="2702223"/>
            <a:ext cx="372070" cy="372070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8" name="Text 5"/>
          <p:cNvSpPr/>
          <p:nvPr/>
        </p:nvSpPr>
        <p:spPr>
          <a:xfrm>
            <a:off x="1198860" y="2759075"/>
            <a:ext cx="345063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00"/>
              </a:lnSpc>
            </a:pPr>
            <a:r>
              <a:rPr lang="en-US" sz="1625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Leverage Is a Double-Edged Sword</a:t>
            </a:r>
            <a:endParaRPr lang="en-US" sz="1625" dirty="0"/>
          </a:p>
        </p:txBody>
      </p:sp>
      <p:sp>
        <p:nvSpPr>
          <p:cNvPr id="9" name="Text 6"/>
          <p:cNvSpPr/>
          <p:nvPr/>
        </p:nvSpPr>
        <p:spPr>
          <a:xfrm>
            <a:off x="1198860" y="3116759"/>
            <a:ext cx="5759648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083"/>
              </a:lnSpc>
            </a:pPr>
            <a:r>
              <a:rPr lang="en-US" sz="1292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At 30:1, Lehman had no buffer to absorb losses when asset values declined.</a:t>
            </a:r>
            <a:endParaRPr lang="en-US" sz="1292" dirty="0"/>
          </a:p>
        </p:txBody>
      </p:sp>
      <p:sp>
        <p:nvSpPr>
          <p:cNvPr id="10" name="Shape 7"/>
          <p:cNvSpPr/>
          <p:nvPr/>
        </p:nvSpPr>
        <p:spPr>
          <a:xfrm>
            <a:off x="661492" y="3976688"/>
            <a:ext cx="372070" cy="372070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11" name="Text 8"/>
          <p:cNvSpPr/>
          <p:nvPr/>
        </p:nvSpPr>
        <p:spPr>
          <a:xfrm>
            <a:off x="1198860" y="4033540"/>
            <a:ext cx="3696792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00"/>
              </a:lnSpc>
            </a:pPr>
            <a:r>
              <a:rPr lang="en-US" sz="1625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Illiquidity Kills Faster Than Insolvency</a:t>
            </a:r>
            <a:endParaRPr lang="en-US" sz="1625" dirty="0"/>
          </a:p>
        </p:txBody>
      </p:sp>
      <p:sp>
        <p:nvSpPr>
          <p:cNvPr id="12" name="Text 9"/>
          <p:cNvSpPr/>
          <p:nvPr/>
        </p:nvSpPr>
        <p:spPr>
          <a:xfrm>
            <a:off x="1198860" y="4391224"/>
            <a:ext cx="5759648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083"/>
              </a:lnSpc>
            </a:pPr>
            <a:r>
              <a:rPr lang="en-US" sz="1292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Models and controls are only as effective as the risk culture and alignment behind them.</a:t>
            </a:r>
            <a:endParaRPr lang="en-US" sz="1292" dirty="0"/>
          </a:p>
        </p:txBody>
      </p:sp>
      <p:sp>
        <p:nvSpPr>
          <p:cNvPr id="13" name="Shape 10"/>
          <p:cNvSpPr/>
          <p:nvPr/>
        </p:nvSpPr>
        <p:spPr>
          <a:xfrm>
            <a:off x="661492" y="5251153"/>
            <a:ext cx="372070" cy="372070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14" name="Text 11"/>
          <p:cNvSpPr/>
          <p:nvPr/>
        </p:nvSpPr>
        <p:spPr>
          <a:xfrm>
            <a:off x="1198860" y="5308005"/>
            <a:ext cx="3046413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00"/>
              </a:lnSpc>
            </a:pPr>
            <a:r>
              <a:rPr lang="en-US" sz="1625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FRM Is Structural, Not Optional</a:t>
            </a:r>
            <a:endParaRPr lang="en-US" sz="1625" dirty="0"/>
          </a:p>
        </p:txBody>
      </p:sp>
      <p:sp>
        <p:nvSpPr>
          <p:cNvPr id="15" name="Text 12"/>
          <p:cNvSpPr/>
          <p:nvPr/>
        </p:nvSpPr>
        <p:spPr>
          <a:xfrm>
            <a:off x="1198860" y="5665689"/>
            <a:ext cx="5759648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083"/>
              </a:lnSpc>
            </a:pPr>
            <a:r>
              <a:rPr lang="en-US" sz="1292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Financial Risk Management must be embedded into every strategic and operational decision.</a:t>
            </a:r>
            <a:endParaRPr lang="en-US" sz="1292" dirty="0"/>
          </a:p>
        </p:txBody>
      </p:sp>
      <p:pic>
        <p:nvPicPr>
          <p:cNvPr id="17" name="Picture 16" descr="GARiME (Governance, Assurance and Risk ...">
            <a:extLst>
              <a:ext uri="{FF2B5EF4-FFF2-40B4-BE49-F238E27FC236}">
                <a16:creationId xmlns:a16="http://schemas.microsoft.com/office/drawing/2014/main" id="{ECD663D3-304B-6532-D87A-3CD5D99539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53767" y="139991"/>
            <a:ext cx="1505621" cy="61080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625</Words>
  <Application>Microsoft Office PowerPoint</Application>
  <PresentationFormat>Widescreen</PresentationFormat>
  <Paragraphs>111</Paragraphs>
  <Slides>9</Slides>
  <Notes>9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Shubham Kothari</dc:creator>
  <cp:lastModifiedBy>Shubham Kothari</cp:lastModifiedBy>
  <cp:revision>11</cp:revision>
  <dcterms:created xsi:type="dcterms:W3CDTF">2026-02-25T01:17:12Z</dcterms:created>
  <dcterms:modified xsi:type="dcterms:W3CDTF">2026-02-26T19:05:47Z</dcterms:modified>
</cp:coreProperties>
</file>