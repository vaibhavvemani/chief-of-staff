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4630400" cy="8229600"/>
  <p:notesSz cx="8229600" cy="14630400"/>
  <p:embeddedFontLst>
    <p:embeddedFont>
      <p:font typeface="DM Sans Semi Bold" panose="020B0604020202020204" charset="0"/>
      <p:regular r:id="rId6"/>
    </p:embeddedFont>
    <p:embeddedFont>
      <p:font typeface="Inter Medium" panose="020B0604020202020204" charset="0"/>
      <p:regular r:id="rId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0F22B02-7CDC-B953-3BEF-448D92817DB0}" v="4" dt="2026-02-26T19:06:40.73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55" d="100"/>
          <a:sy n="55" d="100"/>
        </p:scale>
        <p:origin x="5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font" Target="fonts/font2.fntdata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1.fntdata"/><Relationship Id="rId11" Type="http://schemas.openxmlformats.org/officeDocument/2006/relationships/tableStyles" Target="tableStyles.xml"/><Relationship Id="rId5" Type="http://schemas.openxmlformats.org/officeDocument/2006/relationships/notesMaster" Target="notesMasters/notesMaster1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ubham kothari" userId="S::shubham.kothari@beyondrisx.com::a35e6b6d-f85b-4fae-a1b4-9ec46eefe994" providerId="AD" clId="Web-{C0F22B02-7CDC-B953-3BEF-448D92817DB0}"/>
    <pc:docChg chg="modSld">
      <pc:chgData name="Shubham kothari" userId="S::shubham.kothari@beyondrisx.com::a35e6b6d-f85b-4fae-a1b4-9ec46eefe994" providerId="AD" clId="Web-{C0F22B02-7CDC-B953-3BEF-448D92817DB0}" dt="2026-02-26T19:06:40.730" v="3"/>
      <pc:docMkLst>
        <pc:docMk/>
      </pc:docMkLst>
      <pc:sldChg chg="addSp modSp">
        <pc:chgData name="Shubham kothari" userId="S::shubham.kothari@beyondrisx.com::a35e6b6d-f85b-4fae-a1b4-9ec46eefe994" providerId="AD" clId="Web-{C0F22B02-7CDC-B953-3BEF-448D92817DB0}" dt="2026-02-26T19:06:33.714" v="1" actId="1076"/>
        <pc:sldMkLst>
          <pc:docMk/>
          <pc:sldMk cId="0" sldId="256"/>
        </pc:sldMkLst>
        <pc:picChg chg="add mod">
          <ac:chgData name="Shubham kothari" userId="S::shubham.kothari@beyondrisx.com::a35e6b6d-f85b-4fae-a1b4-9ec46eefe994" providerId="AD" clId="Web-{C0F22B02-7CDC-B953-3BEF-448D92817DB0}" dt="2026-02-26T19:06:33.714" v="1" actId="1076"/>
          <ac:picMkLst>
            <pc:docMk/>
            <pc:sldMk cId="0" sldId="256"/>
            <ac:picMk id="8" creationId="{E536CF71-B22E-DD82-E393-C7A1BB02652B}"/>
          </ac:picMkLst>
        </pc:picChg>
      </pc:sldChg>
      <pc:sldChg chg="addSp">
        <pc:chgData name="Shubham kothari" userId="S::shubham.kothari@beyondrisx.com::a35e6b6d-f85b-4fae-a1b4-9ec46eefe994" providerId="AD" clId="Web-{C0F22B02-7CDC-B953-3BEF-448D92817DB0}" dt="2026-02-26T19:06:38.683" v="2"/>
        <pc:sldMkLst>
          <pc:docMk/>
          <pc:sldMk cId="0" sldId="257"/>
        </pc:sldMkLst>
        <pc:picChg chg="add">
          <ac:chgData name="Shubham kothari" userId="S::shubham.kothari@beyondrisx.com::a35e6b6d-f85b-4fae-a1b4-9ec46eefe994" providerId="AD" clId="Web-{C0F22B02-7CDC-B953-3BEF-448D92817DB0}" dt="2026-02-26T19:06:38.683" v="2"/>
          <ac:picMkLst>
            <pc:docMk/>
            <pc:sldMk cId="0" sldId="257"/>
            <ac:picMk id="13" creationId="{3513ED72-4CDA-BD89-8193-88551B4D7BDC}"/>
          </ac:picMkLst>
        </pc:picChg>
      </pc:sldChg>
      <pc:sldChg chg="addSp">
        <pc:chgData name="Shubham kothari" userId="S::shubham.kothari@beyondrisx.com::a35e6b6d-f85b-4fae-a1b4-9ec46eefe994" providerId="AD" clId="Web-{C0F22B02-7CDC-B953-3BEF-448D92817DB0}" dt="2026-02-26T19:06:40.730" v="3"/>
        <pc:sldMkLst>
          <pc:docMk/>
          <pc:sldMk cId="0" sldId="258"/>
        </pc:sldMkLst>
        <pc:picChg chg="add">
          <ac:chgData name="Shubham kothari" userId="S::shubham.kothari@beyondrisx.com::a35e6b6d-f85b-4fae-a1b4-9ec46eefe994" providerId="AD" clId="Web-{C0F22B02-7CDC-B953-3BEF-448D92817DB0}" dt="2026-02-26T19:06:40.730" v="3"/>
          <ac:picMkLst>
            <pc:docMk/>
            <pc:sldMk cId="0" sldId="258"/>
            <ac:picMk id="17" creationId="{418EC720-2119-A5F7-116F-CA392F39ABF1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499512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93790" y="2420064"/>
            <a:ext cx="2065496" cy="373142"/>
          </a:xfrm>
          <a:prstGeom prst="roundRect">
            <a:avLst>
              <a:gd name="adj" fmla="val 6383"/>
            </a:avLst>
          </a:prstGeom>
          <a:solidFill>
            <a:srgbClr val="D4F7EC"/>
          </a:solidFill>
          <a:ln/>
        </p:spPr>
      </p:sp>
      <p:sp>
        <p:nvSpPr>
          <p:cNvPr id="4" name="Text 1"/>
          <p:cNvSpPr/>
          <p:nvPr/>
        </p:nvSpPr>
        <p:spPr>
          <a:xfrm>
            <a:off x="912852" y="2479596"/>
            <a:ext cx="1827371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FAMOUS PERSONALITY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793790" y="2872502"/>
            <a:ext cx="7556421" cy="12401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Frank Knight — The Foundation of Risk Theory</a:t>
            </a:r>
            <a:endParaRPr lang="en-US" sz="3900" dirty="0"/>
          </a:p>
        </p:txBody>
      </p:sp>
      <p:sp>
        <p:nvSpPr>
          <p:cNvPr id="6" name="Text 3"/>
          <p:cNvSpPr/>
          <p:nvPr/>
        </p:nvSpPr>
        <p:spPr>
          <a:xfrm>
            <a:off x="1091446" y="4633555"/>
            <a:ext cx="7258764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"In 1921, economist Frank Knight introduced a distinction that still underpins modern Financial Risk Management. Knight argued that </a:t>
            </a:r>
            <a:r>
              <a:rPr lang="en-US" sz="1550" b="1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risk and uncertainty are not the same.</a:t>
            </a:r>
            <a:r>
              <a:rPr lang="en-US" sz="15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"</a:t>
            </a:r>
            <a:endParaRPr lang="en-US" sz="1550" dirty="0"/>
          </a:p>
        </p:txBody>
      </p:sp>
      <p:sp>
        <p:nvSpPr>
          <p:cNvPr id="7" name="Shape 4"/>
          <p:cNvSpPr/>
          <p:nvPr/>
        </p:nvSpPr>
        <p:spPr>
          <a:xfrm>
            <a:off x="793790" y="4410313"/>
            <a:ext cx="22860" cy="1399103"/>
          </a:xfrm>
          <a:prstGeom prst="rect">
            <a:avLst/>
          </a:prstGeom>
          <a:solidFill>
            <a:srgbClr val="1C9770"/>
          </a:solidFill>
          <a:ln/>
        </p:spPr>
      </p:sp>
      <p:pic>
        <p:nvPicPr>
          <p:cNvPr id="8" name="Picture 7" descr="GARiME (Governance, Assurance and Risk ...">
            <a:extLst>
              <a:ext uri="{FF2B5EF4-FFF2-40B4-BE49-F238E27FC236}">
                <a16:creationId xmlns:a16="http://schemas.microsoft.com/office/drawing/2014/main" id="{E536CF71-B22E-DD82-E393-C7A1BB0265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54000" y="172352"/>
            <a:ext cx="1524000" cy="61912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036088"/>
            <a:ext cx="4961811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Risk vs. Uncertainty</a:t>
            </a:r>
            <a:endParaRPr lang="en-US" sz="3900" dirty="0"/>
          </a:p>
        </p:txBody>
      </p:sp>
      <p:sp>
        <p:nvSpPr>
          <p:cNvPr id="4" name="Shape 1"/>
          <p:cNvSpPr/>
          <p:nvPr/>
        </p:nvSpPr>
        <p:spPr>
          <a:xfrm>
            <a:off x="793790" y="2953822"/>
            <a:ext cx="7556421" cy="3239572"/>
          </a:xfrm>
          <a:prstGeom prst="roundRect">
            <a:avLst>
              <a:gd name="adj" fmla="val 919"/>
            </a:avLst>
          </a:prstGeom>
          <a:solidFill>
            <a:srgbClr val="F2EEEE"/>
          </a:solidFill>
          <a:ln/>
        </p:spPr>
      </p:sp>
      <p:sp>
        <p:nvSpPr>
          <p:cNvPr id="5" name="Shape 2"/>
          <p:cNvSpPr/>
          <p:nvPr/>
        </p:nvSpPr>
        <p:spPr>
          <a:xfrm>
            <a:off x="793790" y="2953822"/>
            <a:ext cx="7556421" cy="1778556"/>
          </a:xfrm>
          <a:prstGeom prst="roundRect">
            <a:avLst>
              <a:gd name="adj" fmla="val 1674"/>
            </a:avLst>
          </a:prstGeom>
          <a:solidFill>
            <a:srgbClr val="F2EEEE"/>
          </a:solidFill>
          <a:ln/>
        </p:spPr>
      </p:sp>
      <p:sp>
        <p:nvSpPr>
          <p:cNvPr id="6" name="Text 3"/>
          <p:cNvSpPr/>
          <p:nvPr/>
        </p:nvSpPr>
        <p:spPr>
          <a:xfrm>
            <a:off x="992148" y="3152180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Risk</a:t>
            </a:r>
            <a:endParaRPr lang="en-US" sz="1950" dirty="0"/>
          </a:p>
        </p:txBody>
      </p:sp>
      <p:sp>
        <p:nvSpPr>
          <p:cNvPr id="7" name="Text 4"/>
          <p:cNvSpPr/>
          <p:nvPr/>
        </p:nvSpPr>
        <p:spPr>
          <a:xfrm>
            <a:off x="992148" y="3581400"/>
            <a:ext cx="7159704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Situations where </a:t>
            </a:r>
            <a:r>
              <a:rPr lang="en-US" sz="1550" b="1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probabilities can be assigned</a:t>
            </a:r>
            <a:r>
              <a:rPr lang="en-US" sz="15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. For example, we can estimate the volatility of exchange rates or default probabilities using historical data.</a:t>
            </a:r>
            <a:endParaRPr lang="en-US" sz="1550" dirty="0"/>
          </a:p>
        </p:txBody>
      </p:sp>
      <p:sp>
        <p:nvSpPr>
          <p:cNvPr id="8" name="Shape 5"/>
          <p:cNvSpPr/>
          <p:nvPr/>
        </p:nvSpPr>
        <p:spPr>
          <a:xfrm>
            <a:off x="793790" y="4732377"/>
            <a:ext cx="7556421" cy="1461016"/>
          </a:xfrm>
          <a:prstGeom prst="rect">
            <a:avLst/>
          </a:prstGeom>
          <a:solidFill>
            <a:srgbClr val="F2EEEE"/>
          </a:solidFill>
          <a:ln/>
        </p:spPr>
      </p:sp>
      <p:sp>
        <p:nvSpPr>
          <p:cNvPr id="9" name="Shape 6"/>
          <p:cNvSpPr/>
          <p:nvPr/>
        </p:nvSpPr>
        <p:spPr>
          <a:xfrm>
            <a:off x="793790" y="4732377"/>
            <a:ext cx="7556421" cy="22860"/>
          </a:xfrm>
          <a:prstGeom prst="roundRect">
            <a:avLst>
              <a:gd name="adj" fmla="val 130232"/>
            </a:avLst>
          </a:prstGeom>
          <a:solidFill>
            <a:srgbClr val="D8D4D4"/>
          </a:solidFill>
          <a:ln/>
        </p:spPr>
      </p:sp>
      <p:sp>
        <p:nvSpPr>
          <p:cNvPr id="10" name="Text 7"/>
          <p:cNvSpPr/>
          <p:nvPr/>
        </p:nvSpPr>
        <p:spPr>
          <a:xfrm>
            <a:off x="992148" y="4930735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Uncertainty</a:t>
            </a:r>
            <a:endParaRPr lang="en-US" sz="1950" dirty="0"/>
          </a:p>
        </p:txBody>
      </p:sp>
      <p:sp>
        <p:nvSpPr>
          <p:cNvPr id="11" name="Text 8"/>
          <p:cNvSpPr/>
          <p:nvPr/>
        </p:nvSpPr>
        <p:spPr>
          <a:xfrm>
            <a:off x="992148" y="5359956"/>
            <a:ext cx="7159704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Situations where </a:t>
            </a:r>
            <a:r>
              <a:rPr lang="en-US" sz="1550" b="1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no reliable probability distribution exists</a:t>
            </a:r>
            <a:r>
              <a:rPr lang="en-US" sz="15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. These are the </a:t>
            </a:r>
            <a:r>
              <a:rPr lang="en-US" sz="1550" i="1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"unknown unknowns"</a:t>
            </a:r>
            <a:r>
              <a:rPr lang="en-US" sz="15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— beyond the reach of quantitative modelling.</a:t>
            </a:r>
            <a:endParaRPr lang="en-US" sz="1550" dirty="0"/>
          </a:p>
        </p:txBody>
      </p:sp>
      <p:pic>
        <p:nvPicPr>
          <p:cNvPr id="13" name="Picture 12" descr="GARiME (Governance, Assurance and Risk ...">
            <a:extLst>
              <a:ext uri="{FF2B5EF4-FFF2-40B4-BE49-F238E27FC236}">
                <a16:creationId xmlns:a16="http://schemas.microsoft.com/office/drawing/2014/main" id="{3513ED72-4CDA-BD89-8193-88551B4D7B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54000" y="172352"/>
            <a:ext cx="1524000" cy="61912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106216"/>
            <a:ext cx="5509141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Why Does This Matter?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3123128"/>
            <a:ext cx="130428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Financial Risk Management operates </a:t>
            </a:r>
            <a:r>
              <a:rPr lang="en-US" sz="1550" b="1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only in the domain of measurable risk</a:t>
            </a:r>
            <a:r>
              <a:rPr lang="en-US" sz="15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. Our models — VaR, stress testing, credit models — all assume probability estimation is possible.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793790" y="3981450"/>
            <a:ext cx="4215289" cy="2141815"/>
          </a:xfrm>
          <a:prstGeom prst="roundRect">
            <a:avLst>
              <a:gd name="adj" fmla="val 5123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0930" y="3981450"/>
            <a:ext cx="91440" cy="2141815"/>
          </a:xfrm>
          <a:prstGeom prst="roundRect">
            <a:avLst>
              <a:gd name="adj" fmla="val 32558"/>
            </a:avLst>
          </a:prstGeom>
          <a:solidFill>
            <a:srgbClr val="1C9770"/>
          </a:solidFill>
          <a:ln/>
        </p:spPr>
      </p:sp>
      <p:sp>
        <p:nvSpPr>
          <p:cNvPr id="6" name="Text 4"/>
          <p:cNvSpPr/>
          <p:nvPr/>
        </p:nvSpPr>
        <p:spPr>
          <a:xfrm>
            <a:off x="1083588" y="4202668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Model Boundaries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1083588" y="4631888"/>
            <a:ext cx="3704273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Knight's distinction clarifies what our quantitative tools can and cannot capture.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5207437" y="3981450"/>
            <a:ext cx="4215408" cy="2141815"/>
          </a:xfrm>
          <a:prstGeom prst="roundRect">
            <a:avLst>
              <a:gd name="adj" fmla="val 5123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184577" y="3981450"/>
            <a:ext cx="91440" cy="2141815"/>
          </a:xfrm>
          <a:prstGeom prst="roundRect">
            <a:avLst>
              <a:gd name="adj" fmla="val 32558"/>
            </a:avLst>
          </a:prstGeom>
          <a:solidFill>
            <a:srgbClr val="1C9770"/>
          </a:solidFill>
          <a:ln/>
        </p:spPr>
      </p:sp>
      <p:sp>
        <p:nvSpPr>
          <p:cNvPr id="10" name="Text 8"/>
          <p:cNvSpPr/>
          <p:nvPr/>
        </p:nvSpPr>
        <p:spPr>
          <a:xfrm>
            <a:off x="5497235" y="4202668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Why Profit Exists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5497235" y="4631888"/>
            <a:ext cx="3704392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If everything were measurable and perfectly predictable, there would be no excess return. </a:t>
            </a:r>
            <a:r>
              <a:rPr lang="en-US" sz="1550" b="1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Profit compensates for uncertainty.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9621203" y="3981450"/>
            <a:ext cx="4215289" cy="2141815"/>
          </a:xfrm>
          <a:prstGeom prst="roundRect">
            <a:avLst>
              <a:gd name="adj" fmla="val 5123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598343" y="3981450"/>
            <a:ext cx="91440" cy="2141815"/>
          </a:xfrm>
          <a:prstGeom prst="roundRect">
            <a:avLst>
              <a:gd name="adj" fmla="val 32558"/>
            </a:avLst>
          </a:prstGeom>
          <a:solidFill>
            <a:srgbClr val="1C9770"/>
          </a:solidFill>
          <a:ln/>
        </p:spPr>
      </p:sp>
      <p:sp>
        <p:nvSpPr>
          <p:cNvPr id="14" name="Text 12"/>
          <p:cNvSpPr/>
          <p:nvPr/>
        </p:nvSpPr>
        <p:spPr>
          <a:xfrm>
            <a:off x="9911001" y="4202668"/>
            <a:ext cx="2997756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Philosophical Foundation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9911001" y="4631888"/>
            <a:ext cx="3704273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This conceptual distinction forms the philosophical bedrock of the entire discipline.</a:t>
            </a:r>
            <a:endParaRPr lang="en-US" sz="1550" dirty="0"/>
          </a:p>
        </p:txBody>
      </p:sp>
      <p:pic>
        <p:nvPicPr>
          <p:cNvPr id="17" name="Picture 16" descr="GARiME (Governance, Assurance and Risk ...">
            <a:extLst>
              <a:ext uri="{FF2B5EF4-FFF2-40B4-BE49-F238E27FC236}">
                <a16:creationId xmlns:a16="http://schemas.microsoft.com/office/drawing/2014/main" id="{418EC720-2119-A5F7-116F-CA392F39AB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54000" y="172352"/>
            <a:ext cx="1524000" cy="61912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182</Words>
  <Application>Microsoft Office PowerPoint</Application>
  <PresentationFormat>Custom</PresentationFormat>
  <Paragraphs>19</Paragraphs>
  <Slides>3</Slides>
  <Notes>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4" baseType="lpstr"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Shubham Kothari</cp:lastModifiedBy>
  <cp:revision>5</cp:revision>
  <dcterms:created xsi:type="dcterms:W3CDTF">2026-02-25T00:53:38Z</dcterms:created>
  <dcterms:modified xsi:type="dcterms:W3CDTF">2026-02-26T19:06:44Z</dcterms:modified>
</cp:coreProperties>
</file>